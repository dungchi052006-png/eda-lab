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Đề bài" id="{0d546c11-f404-5836-7946-beeb6b443ede}">
          <p14:sldIdLst>
            <p14:sldId id="256"/>
          </p14:sldIdLst>
        </p14:section>
        <p14:section name="Các phương pháp" id="{8e220666-3929-5d25-6773-c76469d665f7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Kết quả" id="{79d6ddd6-41cc-5750-77b9-a48ce47e525e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3F"/>
                </a:solidFill>
                <a:latin typeface="+mn-lt"/>
              </a:rPr>
              <a:t>Cut edges (balanced partition)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Cut edges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226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Spectral</c:v>
                  </c:pt>
                  <c:pt idx="1">
                    <c:v>Kernighan-Lin</c:v>
                  </c:pt>
                  <c:pt idx="2">
                    <c:v>Exact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226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split the graph into two balanced halves (differing by at most 1 vertex) so that the number of cut edges is minimal. The sample graph has 29 vertices, so the two parts have 15 and 14 vertices.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 data structures for all algorithms: adjacency list, the side[] array, and a function that counts cut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comparison table: number of cut edges, balance, and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Kernighan-Lin: start from a balanced partition, compute gain D[v] = external − internal, swap the best pair, lock the vertices, repeat until no vertices remain, then pick the prefix with the largest total gain. Result: 5 cut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Spectral: relaxes the discrete problem into a continuous one, so it only gives an approximate solution; here it yields 8 cut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Exhaustive search over C(29,14) = 77,558,760 splits gives the absolute optimum of 5 cut edges. Used as the benchmark to verify the other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gives the optimal bound = 5. Kernighan-Lin reaches exactly 5 at a much lower cost, so it is the proposed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the optimum is 5 cut edges; KL reaches the optimum at low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Problem: Graph Partitioning</a:t>
            </a:r>
            <a:endParaRPr lang="en-US" sz="2800" dirty="0"/>
          </a:p>
        </p:txBody>
      </p:sp>
      <p:sp>
        <p:nvSpPr>
          <p:cNvPr id="3" name="Định nghĩa"/>
          <p:cNvSpPr txBox="1"/>
          <p:nvPr/>
        </p:nvSpPr>
        <p:spPr>
          <a:xfrm>
            <a:off x="457200" y="10972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Divide the vertex set V of G = (V, E) into k subsets V₁…Vₖ so that the objective function is optimized and the given constraints are satisfied.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Min-cut (k = 2): ||V₁| − |V₂|| ≤ 1, minimize the number of cut edges (nets).</a:t>
            </a:r>
            <a:endParaRPr lang="en-US" sz="1400" dirty="0"/>
          </a:p>
        </p:txBody>
      </p:sp>
      <p:sp>
        <p:nvSpPr>
          <p:cNvPr id="4" name="Số 1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Yêu cầu 1"/>
          <p:cNvSpPr txBox="1"/>
          <p:nvPr/>
        </p:nvSpPr>
        <p:spPr>
          <a:xfrm>
            <a:off x="1005840" y="2606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Propose your own idea: a data structure + algorithm that reduces the number of cut edges</a:t>
            </a:r>
            <a:endParaRPr lang="en-US" sz="1400" dirty="0"/>
          </a:p>
        </p:txBody>
      </p:sp>
      <p:sp>
        <p:nvSpPr>
          <p:cNvPr id="7" name="Số 2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Yêu cầu 2"/>
          <p:cNvSpPr txBox="1"/>
          <p:nvPr/>
        </p:nvSpPr>
        <p:spPr>
          <a:xfrm>
            <a:off x="100584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Code demo at the EDA Lab (11:00 or 13:00) and submit the file to the TA</a:t>
            </a:r>
            <a:endParaRPr lang="en-US" sz="1400" dirty="0"/>
          </a:p>
        </p:txBody>
      </p:sp>
      <p:sp>
        <p:nvSpPr>
          <p:cNvPr id="10" name="Số 3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Yêu cầu 3"/>
          <p:cNvSpPr txBox="1"/>
          <p:nvPr/>
        </p:nvSpPr>
        <p:spPr>
          <a:xfrm>
            <a:off x="100584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PPT presentation at EDA Class (14:00): data structures, algorithms, complexity, comparison</a:t>
            </a:r>
            <a:endParaRPr lang="en-US" sz="1400" dirty="0"/>
          </a:p>
        </p:txBody>
      </p:sp>
      <p:sp>
        <p:nvSpPr>
          <p:cNvPr id="13" name="Khung ảnh orig"/>
          <p:cNvSpPr/>
          <p:nvPr/>
        </p:nvSpPr>
        <p:spPr>
          <a:xfrm>
            <a:off x="5276088" y="1115568"/>
            <a:ext cx="3529584" cy="3160307"/>
          </a:xfrm>
          <a:prstGeom prst="roundRect">
            <a:avLst>
              <a:gd name="adj" fmla="val 289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4" name="Image- orig" descr="Graph partitioning result: or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188720"/>
            <a:ext cx="3383280" cy="3014003"/>
          </a:xfrm>
          <a:prstGeom prst="rect">
            <a:avLst/>
          </a:prstGeom>
        </p:spPr>
      </p:pic>
      <p:sp>
        <p:nvSpPr>
          <p:cNvPr id="15" name="Chú thích đồ thị"/>
          <p:cNvSpPr txBox="1"/>
          <p:nvPr/>
        </p:nvSpPr>
        <p:spPr>
          <a:xfrm>
            <a:off x="5349240" y="4385603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Deadline: Oct 16 · Graph with 29 vertices, 49 edges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Modeling</a:t>
            </a:r>
            <a:endParaRPr lang="en-US" sz="2800" dirty="0"/>
          </a:p>
        </p:txBody>
      </p:sp>
      <p:sp>
        <p:nvSpPr>
          <p:cNvPr id="3" name="Thẻ số 1"/>
          <p:cNvSpPr/>
          <p:nvPr/>
        </p:nvSpPr>
        <p:spPr>
          <a:xfrm>
            <a:off x="457200" y="114300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vertices |V|</a:t>
            </a:r>
            <a:endParaRPr lang="en-US" sz="1400" dirty="0"/>
          </a:p>
        </p:txBody>
      </p:sp>
      <p:sp>
        <p:nvSpPr>
          <p:cNvPr id="6" name="Thẻ số 2"/>
          <p:cNvSpPr/>
          <p:nvPr/>
        </p:nvSpPr>
        <p:spPr>
          <a:xfrm>
            <a:off x="3291840" y="114300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edges |E|</a:t>
            </a:r>
            <a:endParaRPr lang="en-US" sz="1400" dirty="0"/>
          </a:p>
        </p:txBody>
      </p:sp>
      <p:sp>
        <p:nvSpPr>
          <p:cNvPr id="9" name="Thẻ số 3"/>
          <p:cNvSpPr/>
          <p:nvPr/>
        </p:nvSpPr>
        <p:spPr>
          <a:xfrm>
            <a:off x="6126480" y="114300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 sizes of the two parts</a:t>
            </a:r>
            <a:endParaRPr lang="en-US" sz="1400" dirty="0"/>
          </a:p>
        </p:txBody>
      </p:sp>
      <p:sp>
        <p:nvSpPr>
          <p:cNvPr id="12" name="Thẻ CTDL 1"/>
          <p:cNvSpPr/>
          <p:nvPr/>
        </p:nvSpPr>
        <p:spPr>
          <a:xfrm>
            <a:off x="457200" y="274320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Số 1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Adjacency list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adj[v] = the vertices adjacent to v. Traverse a vertex's neighbors in O(deg v).</a:t>
            </a:r>
            <a:endParaRPr lang="en-US" sz="1400" dirty="0"/>
          </a:p>
        </p:txBody>
      </p:sp>
      <p:sp>
        <p:nvSpPr>
          <p:cNvPr id="17" name="Thẻ CTDL 2"/>
          <p:cNvSpPr/>
          <p:nvPr/>
        </p:nvSpPr>
        <p:spPr>
          <a:xfrm>
            <a:off x="3291840" y="274320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Số 2"/>
          <p:cNvSpPr/>
          <p:nvPr/>
        </p:nvSpPr>
        <p:spPr>
          <a:xfrm>
            <a:off x="3474720" y="2926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747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Partition array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side[v] ∈ {0, 1}. Move a vertex to the other part in O(1).</a:t>
            </a:r>
            <a:endParaRPr lang="en-US" sz="1400" dirty="0"/>
          </a:p>
        </p:txBody>
      </p:sp>
      <p:sp>
        <p:nvSpPr>
          <p:cNvPr id="22" name="Thẻ CTDL 3"/>
          <p:cNvSpPr/>
          <p:nvPr/>
        </p:nvSpPr>
        <p:spPr>
          <a:xfrm>
            <a:off x="6126480" y="274320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3" name="Số 3"/>
          <p:cNvSpPr/>
          <p:nvPr/>
        </p:nvSpPr>
        <p:spPr>
          <a:xfrm>
            <a:off x="6309360" y="2926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 function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cut = number of edges (u, v) with side[u] ≠ side[v]; the cut must be minimized.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Methods Tested</a:t>
            </a:r>
            <a:endParaRPr lang="en-US" sz="2800" dirty="0"/>
          </a:p>
        </p:txBody>
      </p:sp>
      <p:graphicFrame>
        <p:nvGraphicFramePr>
          <p:cNvPr id="4" name="Bảng so sán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1737360"/>
                <a:gridCol w="31089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Balance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Complexity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Kernighan-Lin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14 / 15 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O(n² log n) per 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Spectral Bisection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14 / 15 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O(n³); Lanczos O(k·E)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Exact Min Bisection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14 / 15 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O(C(n, n/2)·E), NP-hard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Kernighan-Lin (KL)</a:t>
            </a:r>
            <a:endParaRPr lang="en-US" sz="2800" dirty="0"/>
          </a:p>
        </p:txBody>
      </p:sp>
      <p:sp>
        <p:nvSpPr>
          <p:cNvPr id="3" name="Khung ảnh kl"/>
          <p:cNvSpPr/>
          <p:nvPr/>
        </p:nvSpPr>
        <p:spPr>
          <a:xfrm>
            <a:off x="384048" y="1024128"/>
            <a:ext cx="4194174" cy="3758184"/>
          </a:xfrm>
          <a:prstGeom prst="roundRect">
            <a:avLst>
              <a:gd name="adj" fmla="val 24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Image- kl" descr="Graph partitioning result: k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47870" cy="3611880"/>
          </a:xfrm>
          <a:prstGeom prst="rect">
            <a:avLst/>
          </a:prstGeom>
        </p:spPr>
      </p:pic>
      <p:sp>
        <p:nvSpPr>
          <p:cNvPr id="5" name="Thẻ kết quả"/>
          <p:cNvSpPr/>
          <p:nvPr/>
        </p:nvSpPr>
        <p:spPr>
          <a:xfrm>
            <a:off x="5029200" y="1051560"/>
            <a:ext cx="365760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66360" y="10515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051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cut edges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Balanced 14 / 15 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IDEA</a:t>
            </a:r>
            <a:endParaRPr lang="en-US" sz="1200" dirty="0"/>
          </a:p>
        </p:txBody>
      </p:sp>
      <p:sp>
        <p:nvSpPr>
          <p:cNvPr id="9" name="Ý TƯỞNG"/>
          <p:cNvSpPr txBox="1"/>
          <p:nvPr/>
        </p:nvSpPr>
        <p:spPr>
          <a:xfrm>
            <a:off x="5029200" y="22585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Swap the vertex pair with the largest gain, lock the vertices, keep the best swap sequence.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DATA STRUCTURES</a:t>
            </a:r>
            <a:endParaRPr lang="en-US" sz="1200" dirty="0"/>
          </a:p>
        </p:txBody>
      </p:sp>
      <p:sp>
        <p:nvSpPr>
          <p:cNvPr id="11" name="CẤU TRÚC DỮ LIỆU"/>
          <p:cNvSpPr txBox="1"/>
          <p:nvPr/>
        </p:nvSpPr>
        <p:spPr>
          <a:xfrm>
            <a:off x="5029200" y="31729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Adjacency list, gain array D[v], gain buckets (linked lists).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13" name="ĐỘ PHỨC TẠP"/>
          <p:cNvSpPr txBox="1"/>
          <p:nvPr/>
        </p:nvSpPr>
        <p:spPr>
          <a:xfrm>
            <a:off x="5029200" y="40873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O(n² log n) per pass; Fiduccia-Mattheyses variant with buckets: O(E).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Spectral Bisection</a:t>
            </a:r>
            <a:endParaRPr lang="en-US" sz="2800" dirty="0"/>
          </a:p>
        </p:txBody>
      </p:sp>
      <p:sp>
        <p:nvSpPr>
          <p:cNvPr id="3" name="Khung ảnh spectral"/>
          <p:cNvSpPr/>
          <p:nvPr/>
        </p:nvSpPr>
        <p:spPr>
          <a:xfrm>
            <a:off x="384048" y="1024128"/>
            <a:ext cx="3965763" cy="3758184"/>
          </a:xfrm>
          <a:prstGeom prst="roundRect">
            <a:avLst>
              <a:gd name="adj" fmla="val 24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Image- spectral" descr="Graph partitioning result: spect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819459" cy="3611880"/>
          </a:xfrm>
          <a:prstGeom prst="rect">
            <a:avLst/>
          </a:prstGeom>
        </p:spPr>
      </p:pic>
      <p:sp>
        <p:nvSpPr>
          <p:cNvPr id="5" name="Thẻ kết quả"/>
          <p:cNvSpPr/>
          <p:nvPr/>
        </p:nvSpPr>
        <p:spPr>
          <a:xfrm>
            <a:off x="5029200" y="1051560"/>
            <a:ext cx="365760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66360" y="10515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051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cut edges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Balanced 14 / 15 ✓ but high cut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IDEA</a:t>
            </a:r>
            <a:endParaRPr lang="en-US" sz="1200" dirty="0"/>
          </a:p>
        </p:txBody>
      </p:sp>
      <p:sp>
        <p:nvSpPr>
          <p:cNvPr id="9" name="Ý TƯỞNG"/>
          <p:cNvSpPr txBox="1"/>
          <p:nvPr/>
        </p:nvSpPr>
        <p:spPr>
          <a:xfrm>
            <a:off x="5029200" y="22585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 the second eigenvector (Fiedler) of the Laplacian and split at the median.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DATA STRUCTURES</a:t>
            </a:r>
            <a:endParaRPr lang="en-US" sz="1200" dirty="0"/>
          </a:p>
        </p:txBody>
      </p:sp>
      <p:sp>
        <p:nvSpPr>
          <p:cNvPr id="11" name="CẤU TRÚC DỮ LIỆU"/>
          <p:cNvSpPr txBox="1"/>
          <p:nvPr/>
        </p:nvSpPr>
        <p:spPr>
          <a:xfrm>
            <a:off x="5029200" y="31729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Adjacency matrix A, degree matrix D, Laplacian L = D − A.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13" name="ĐỘ PHỨC TẠP"/>
          <p:cNvSpPr txBox="1"/>
          <p:nvPr/>
        </p:nvSpPr>
        <p:spPr>
          <a:xfrm>
            <a:off x="5029200" y="40873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O(n³) for full decomposition; Lanczos O(k·E). Only an approximate solution.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Exact Minimum Bisection</a:t>
            </a:r>
            <a:endParaRPr lang="en-US" sz="2800" dirty="0"/>
          </a:p>
        </p:txBody>
      </p:sp>
      <p:sp>
        <p:nvSpPr>
          <p:cNvPr id="3" name="Khung ảnh exact"/>
          <p:cNvSpPr/>
          <p:nvPr/>
        </p:nvSpPr>
        <p:spPr>
          <a:xfrm>
            <a:off x="384048" y="1024128"/>
            <a:ext cx="4270735" cy="3758184"/>
          </a:xfrm>
          <a:prstGeom prst="roundRect">
            <a:avLst>
              <a:gd name="adj" fmla="val 24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Image- exact" descr="Graph partitioning result: ex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24431" cy="3611880"/>
          </a:xfrm>
          <a:prstGeom prst="rect">
            <a:avLst/>
          </a:prstGeom>
        </p:spPr>
      </p:pic>
      <p:sp>
        <p:nvSpPr>
          <p:cNvPr id="5" name="Thẻ kết quả"/>
          <p:cNvSpPr/>
          <p:nvPr/>
        </p:nvSpPr>
        <p:spPr>
          <a:xfrm>
            <a:off x="5029200" y="1051560"/>
            <a:ext cx="365760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66360" y="10515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051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cut edges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Proven optimal 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IDEA</a:t>
            </a:r>
            <a:endParaRPr lang="en-US" sz="1200" dirty="0"/>
          </a:p>
        </p:txBody>
      </p:sp>
      <p:sp>
        <p:nvSpPr>
          <p:cNvPr id="9" name="Ý TƯỞNG"/>
          <p:cNvSpPr txBox="1"/>
          <p:nvPr/>
        </p:nvSpPr>
        <p:spPr>
          <a:xfrm>
            <a:off x="5029200" y="22585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Enumerate every 15 / 14 split (≈ 7.8·10⁷ ways), with branch-and-bound pruning.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DATA STRUCTURES</a:t>
            </a:r>
            <a:endParaRPr lang="en-US" sz="1200" dirty="0"/>
          </a:p>
        </p:txBody>
      </p:sp>
      <p:sp>
        <p:nvSpPr>
          <p:cNvPr id="11" name="CẤU TRÚC DỮ LIỆU"/>
          <p:cNvSpPr txBox="1"/>
          <p:nvPr/>
        </p:nvSpPr>
        <p:spPr>
          <a:xfrm>
            <a:off x="5029200" y="31729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29-bit bitmask for V₁; cut counted quickly via popcount on adjacency masks.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13" name="ĐỘ PHỨC TẠP"/>
          <p:cNvSpPr txBox="1"/>
          <p:nvPr/>
        </p:nvSpPr>
        <p:spPr>
          <a:xfrm>
            <a:off x="5029200" y="40873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O(C(n, n/2)·E). An NP-hard problem, feasible only for small 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Best Method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hẻ Tối ưu tuyệt đối"/>
          <p:cNvSpPr/>
          <p:nvPr/>
        </p:nvSpPr>
        <p:spPr>
          <a:xfrm>
            <a:off x="5029200" y="1097280"/>
            <a:ext cx="3657600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2578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optimum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25780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Exact Bisection: cut = 5. No balanced split does better.</a:t>
            </a:r>
            <a:endParaRPr lang="en-US" sz="1400" dirty="0"/>
          </a:p>
        </p:txBody>
      </p:sp>
      <p:sp>
        <p:nvSpPr>
          <p:cNvPr id="8" name="Thẻ Giải pháp đề xuất"/>
          <p:cNvSpPr/>
          <p:nvPr/>
        </p:nvSpPr>
        <p:spPr>
          <a:xfrm>
            <a:off x="5029200" y="2880360"/>
            <a:ext cx="3657600" cy="16002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5780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Kernighan-Lin: same cut = 5, same partition, runs much faster and scales.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hẻ số lớn"/>
          <p:cNvSpPr/>
          <p:nvPr/>
        </p:nvSpPr>
        <p:spPr>
          <a:xfrm>
            <a:off x="45720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minimum cut edges with a 15 / 14 partition</a:t>
            </a:r>
            <a:endParaRPr lang="en-US" sz="1400" dirty="0"/>
          </a:p>
        </p:txBody>
      </p:sp>
      <p:sp>
        <p:nvSpPr>
          <p:cNvPr id="6" name="Số 1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Kết luận 1"/>
          <p:cNvSpPr txBox="1"/>
          <p:nvPr/>
        </p:nvSpPr>
        <p:spPr>
          <a:xfrm>
            <a:off x="4114800" y="1188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Cut edges: e–h, f–h, f–i, j–k, j–n. Part V₁ consists of the clusters a…g and k…q.</a:t>
            </a:r>
            <a:endParaRPr lang="en-US" sz="1400" dirty="0"/>
          </a:p>
        </p:txBody>
      </p:sp>
      <p:sp>
        <p:nvSpPr>
          <p:cNvPr id="9" name="Số 2"/>
          <p:cNvSpPr/>
          <p:nvPr/>
        </p:nvSpPr>
        <p:spPr>
          <a:xfrm>
            <a:off x="3474720" y="2377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Kết luận 2"/>
          <p:cNvSpPr txBox="1"/>
          <p:nvPr/>
        </p:nvSpPr>
        <p:spPr>
          <a:xfrm>
            <a:off x="4114800" y="2286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Kernighan-Lin matches the Exact optimum (5) at low complexity, so it is chosen.</a:t>
            </a:r>
            <a:endParaRPr lang="en-US" sz="1400" dirty="0"/>
          </a:p>
        </p:txBody>
      </p:sp>
      <p:sp>
        <p:nvSpPr>
          <p:cNvPr id="12" name="Số 3"/>
          <p:cNvSpPr/>
          <p:nvPr/>
        </p:nvSpPr>
        <p:spPr>
          <a:xfrm>
            <a:off x="3474720" y="34747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Kết luận 3"/>
          <p:cNvSpPr txBox="1"/>
          <p:nvPr/>
        </p:nvSpPr>
        <p:spPr>
          <a:xfrm>
            <a:off x="411480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Spectral (8) is only an approximation, so its cut is higher.</a:t>
            </a:r>
            <a:endParaRPr lang="en-US" sz="1400" dirty="0"/>
          </a:p>
        </p:txBody>
      </p:sp>
      <p:sp>
        <p:nvSpPr>
          <p:cNvPr id="15" name="Hướng phát triển"/>
          <p:cNvSpPr txBox="1"/>
          <p:nvPr/>
        </p:nvSpPr>
        <p:spPr>
          <a:xfrm>
            <a:off x="3474720" y="4480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Future work: run KL many times from random starting points, or use FM for large graphs.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Cut">
  <a:themeElements>
    <a:clrScheme name="MinCut">
      <a:dk1>
        <a:srgbClr val="12263F"/>
      </a:dk1>
      <a:lt1>
        <a:srgbClr val="FFFFFF"/>
      </a:lt1>
      <a:dk2>
        <a:srgbClr val="3B4A63"/>
      </a:dk2>
      <a:lt2>
        <a:srgbClr val="EEF2F7"/>
      </a:lt2>
      <a:accent1>
        <a:srgbClr val="E8A317"/>
      </a:accent1>
      <a:accent2>
        <a:srgbClr val="2E86AB"/>
      </a:accent2>
      <a:accent3>
        <a:srgbClr val="C0392B"/>
      </a:accent3>
      <a:accent4>
        <a:srgbClr val="2E9E6B"/>
      </a:accent4>
      <a:accent5>
        <a:srgbClr val="7A8AA3"/>
      </a:accent5>
      <a:accent6>
        <a:srgbClr val="F4D58D"/>
      </a:accent6>
      <a:hlink>
        <a:srgbClr val="2E86AB"/>
      </a:hlink>
      <a:folHlink>
        <a:srgbClr val="7A8AA3"/>
      </a:folHlink>
    </a:clrScheme>
    <a:fontScheme name="MinCu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Partitioning Problem - Min-Cut Bisection</dc:title>
  <dc:subject>PptxGenJS Presentation</dc:subject>
  <dc:creator>PptxGenJS</dc:creator>
  <cp:lastModifiedBy>PptxGenJS</cp:lastModifiedBy>
  <cp:revision>1</cp:revision>
  <dcterms:created xsi:type="dcterms:W3CDTF">2026-10-15T13:13:45Z</dcterms:created>
  <dcterms:modified xsi:type="dcterms:W3CDTF">2026-10-15T13:13:45Z</dcterms:modified>
</cp:coreProperties>
</file>