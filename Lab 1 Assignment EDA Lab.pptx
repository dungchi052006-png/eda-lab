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Marcellus"/>
      <p:regular r:id="rId201314"/>
    </p:embeddedFont>
    <p:embeddedFont>
      <p:font typeface="Montserrat"/>
      <p:regular r:id="rId201315"/>
    </p:embeddedFont>
    <p:embeddedFont>
      <p:font typeface="Montserrat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C8AB"/>
          </a:solidFill>
          <a:ln/>
        </p:spPr>
      </p:sp>
      <p:sp>
        <p:nvSpPr>
          <p:cNvPr id="3" name="Shape 1"/>
          <p:cNvSpPr/>
          <p:nvPr/>
        </p:nvSpPr>
        <p:spPr>
          <a:xfrm>
            <a:off x="0" y="0"/>
            <a:ext cx="12191695" cy="6858000"/>
          </a:xfrm>
          <a:prstGeom prst="rect">
            <a:avLst/>
          </a:prstGeom>
          <a:solidFill>
            <a:srgbClr val="FFFFF4">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32110"/>
            <a:ext cx="6296860" cy="1412875"/>
          </a:xfrm>
          <a:prstGeom prst="rect">
            <a:avLst/>
          </a:prstGeom>
          <a:noFill/>
          <a:ln/>
        </p:spPr>
        <p:txBody>
          <a:bodyPr wrap="square" lIns="0" tIns="0" rIns="0" bIns="0" rtlCol="0" anchor="t">
            <a:normAutofit/>
          </a:bodyPr>
          <a:lstStyle/>
          <a:p>
            <a:pPr algn="l" indent="0" marL="0">
              <a:lnSpc>
                <a:spcPct val="108000"/>
              </a:lnSpc>
              <a:buNone/>
            </a:pPr>
            <a:r>
              <a:rPr lang="en-US" sz="4250" spc="-43" kern="0" dirty="0">
                <a:solidFill>
                  <a:srgbClr val="532418"/>
                </a:solidFill>
                <a:latin typeface="Marcellus" pitchFamily="34" charset="0"/>
                <a:ea typeface="Marcellus" pitchFamily="34" charset="-122"/>
                <a:cs typeface="Marcellus" pitchFamily="34" charset="-120"/>
              </a:rPr>
              <a:t>EDA &amp; EDA Lab — Assignment #1</a:t>
            </a:r>
            <a:endParaRPr lang="en-US" sz="4250" dirty="0"/>
          </a:p>
        </p:txBody>
      </p:sp>
      <p:sp>
        <p:nvSpPr>
          <p:cNvPr id="4" name="Text 1"/>
          <p:cNvSpPr/>
          <p:nvPr/>
        </p:nvSpPr>
        <p:spPr>
          <a:xfrm>
            <a:off x="5233360" y="2228453"/>
            <a:ext cx="6296860" cy="1949847"/>
          </a:xfrm>
          <a:prstGeom prst="rect">
            <a:avLst/>
          </a:prstGeom>
          <a:noFill/>
          <a:ln/>
        </p:spPr>
        <p:txBody>
          <a:bodyPr wrap="square" lIns="0" tIns="0" rIns="0" bIns="0" rtlCol="0" anchor="t">
            <a:normAutofit/>
          </a:bodyPr>
          <a:lstStyle/>
          <a:p>
            <a:pPr algn="l" indent="0" marL="0">
              <a:lnSpc>
                <a:spcPct val="108000"/>
              </a:lnSpc>
              <a:buNone/>
            </a:pPr>
            <a:r>
              <a:rPr lang="en-US" sz="5900" spc="-59" kern="0" dirty="0">
                <a:solidFill>
                  <a:srgbClr val="532418"/>
                </a:solidFill>
                <a:latin typeface="Marcellus" pitchFamily="34" charset="0"/>
                <a:ea typeface="Marcellus" pitchFamily="34" charset="-122"/>
                <a:cs typeface="Marcellus" pitchFamily="34" charset="-120"/>
              </a:rPr>
              <a:t>Seat Assignment Problem</a:t>
            </a:r>
            <a:endParaRPr lang="en-US" sz="5900" dirty="0"/>
          </a:p>
        </p:txBody>
      </p:sp>
      <p:sp>
        <p:nvSpPr>
          <p:cNvPr id="5" name="Text 2"/>
          <p:cNvSpPr/>
          <p:nvPr/>
        </p:nvSpPr>
        <p:spPr>
          <a:xfrm>
            <a:off x="5233360" y="4461768"/>
            <a:ext cx="6296860" cy="982663"/>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Given </a:t>
            </a:r>
            <a:pPr algn="l" indent="0" marL="0">
              <a:lnSpc>
                <a:spcPct val="108000"/>
              </a:lnSpc>
              <a:buNone/>
            </a:pPr>
            <a:r>
              <a:rPr lang="en-US" sz="1450" b="1" dirty="0">
                <a:solidFill>
                  <a:srgbClr val="67534F"/>
                </a:solidFill>
                <a:latin typeface="Montserrat Bold" pitchFamily="34" charset="0"/>
                <a:ea typeface="Montserrat Bold" pitchFamily="34" charset="-122"/>
                <a:cs typeface="Montserrat Bold" pitchFamily="34" charset="-120"/>
              </a:rPr>
              <a:t>m railway stations</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 and </a:t>
            </a:r>
            <a:pPr algn="l" indent="0" marL="0">
              <a:lnSpc>
                <a:spcPct val="108000"/>
              </a:lnSpc>
              <a:buNone/>
            </a:pPr>
            <a:r>
              <a:rPr lang="en-US" sz="1450" b="1" dirty="0">
                <a:solidFill>
                  <a:srgbClr val="67534F"/>
                </a:solidFill>
                <a:latin typeface="Montserrat Bold" pitchFamily="34" charset="0"/>
                <a:ea typeface="Montserrat Bold" pitchFamily="34" charset="-122"/>
                <a:cs typeface="Montserrat Bold" pitchFamily="34" charset="-120"/>
              </a:rPr>
              <a:t>n passenger tickets</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 design data structures and batch-processing algorithms to </a:t>
            </a:r>
            <a:pPr algn="l" indent="0" marL="0">
              <a:lnSpc>
                <a:spcPct val="108000"/>
              </a:lnSpc>
              <a:buNone/>
            </a:pPr>
            <a:r>
              <a:rPr lang="en-US" sz="1450" dirty="0">
                <a:solidFill>
                  <a:srgbClr val="FF954F"/>
                </a:solidFill>
                <a:latin typeface="Montserrat" pitchFamily="34" charset="0"/>
                <a:ea typeface="Montserrat" pitchFamily="34" charset="-122"/>
                <a:cs typeface="Montserrat" pitchFamily="34" charset="-120"/>
              </a:rPr>
              <a:t>minimize the number of seats</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 required while optimizing resource utilization across the train's full route.</a:t>
            </a:r>
            <a:endParaRPr lang="en-US" sz="1450" dirty="0"/>
          </a:p>
        </p:txBody>
      </p:sp>
      <p:sp>
        <p:nvSpPr>
          <p:cNvPr id="6" name="Shape 3"/>
          <p:cNvSpPr/>
          <p:nvPr/>
        </p:nvSpPr>
        <p:spPr>
          <a:xfrm>
            <a:off x="5233360" y="5657056"/>
            <a:ext cx="2969245" cy="287139"/>
          </a:xfrm>
          <a:prstGeom prst="roundRect">
            <a:avLst>
              <a:gd name="adj" fmla="val 22118"/>
            </a:avLst>
          </a:prstGeom>
          <a:solidFill>
            <a:srgbClr val="FFE0CC"/>
          </a:solidFill>
          <a:ln/>
        </p:spPr>
      </p:sp>
      <p:sp>
        <p:nvSpPr>
          <p:cNvPr id="7" name="Text 4"/>
          <p:cNvSpPr/>
          <p:nvPr/>
        </p:nvSpPr>
        <p:spPr>
          <a:xfrm>
            <a:off x="5346765" y="5713710"/>
            <a:ext cx="3352022" cy="173831"/>
          </a:xfrm>
          <a:prstGeom prst="rect">
            <a:avLst/>
          </a:prstGeom>
          <a:noFill/>
          <a:ln/>
        </p:spPr>
        <p:txBody>
          <a:bodyPr wrap="none" lIns="0" tIns="0" rIns="0" bIns="0" rtlCol="0" anchor="t"/>
          <a:lstStyle/>
          <a:p>
            <a:pPr algn="l" indent="0" marL="0">
              <a:lnSpc>
                <a:spcPct val="96000"/>
              </a:lnSpc>
              <a:buNone/>
            </a:pPr>
            <a:r>
              <a:rPr lang="en-US" sz="1150" dirty="0">
                <a:solidFill>
                  <a:srgbClr val="67534F"/>
                </a:solidFill>
                <a:latin typeface="Montserrat" pitchFamily="34" charset="0"/>
                <a:ea typeface="Montserrat" pitchFamily="34" charset="-122"/>
                <a:cs typeface="Montserrat" pitchFamily="34" charset="-120"/>
              </a:rPr>
              <a:t>ELECTRONIC DESIGN AUTOMATION</a:t>
            </a:r>
            <a:endParaRPr lang="en-US" sz="1150" dirty="0"/>
          </a:p>
        </p:txBody>
      </p:sp>
      <p:sp>
        <p:nvSpPr>
          <p:cNvPr id="8" name="Shape 5"/>
          <p:cNvSpPr/>
          <p:nvPr/>
        </p:nvSpPr>
        <p:spPr>
          <a:xfrm>
            <a:off x="8297060" y="5657056"/>
            <a:ext cx="1818138" cy="287139"/>
          </a:xfrm>
          <a:prstGeom prst="roundRect">
            <a:avLst>
              <a:gd name="adj" fmla="val 22118"/>
            </a:avLst>
          </a:prstGeom>
          <a:noFill/>
          <a:ln w="12700">
            <a:solidFill>
              <a:srgbClr val="FF954F"/>
            </a:solidFill>
            <a:prstDash val="solid"/>
          </a:ln>
        </p:spPr>
      </p:sp>
      <p:sp>
        <p:nvSpPr>
          <p:cNvPr id="9" name="Text 6"/>
          <p:cNvSpPr/>
          <p:nvPr/>
        </p:nvSpPr>
        <p:spPr>
          <a:xfrm>
            <a:off x="8410464" y="5713710"/>
            <a:ext cx="2200914" cy="173831"/>
          </a:xfrm>
          <a:prstGeom prst="rect">
            <a:avLst/>
          </a:prstGeom>
          <a:noFill/>
          <a:ln/>
        </p:spPr>
        <p:txBody>
          <a:bodyPr wrap="none" lIns="0" tIns="0" rIns="0" bIns="0" rtlCol="0" anchor="t"/>
          <a:lstStyle/>
          <a:p>
            <a:pPr algn="l" indent="0" marL="0">
              <a:lnSpc>
                <a:spcPct val="96000"/>
              </a:lnSpc>
              <a:buNone/>
            </a:pPr>
            <a:r>
              <a:rPr lang="en-US" sz="1150" dirty="0">
                <a:solidFill>
                  <a:srgbClr val="FF954F"/>
                </a:solidFill>
                <a:latin typeface="Montserrat" pitchFamily="34" charset="0"/>
                <a:ea typeface="Montserrat" pitchFamily="34" charset="-122"/>
                <a:cs typeface="Montserrat" pitchFamily="34" charset="-120"/>
              </a:rPr>
              <a:t>ALGORITHM DESIGN</a:t>
            </a:r>
            <a:endParaRPr lang="en-US" sz="1150" dirty="0"/>
          </a:p>
        </p:txBody>
      </p:sp>
      <p:sp>
        <p:nvSpPr>
          <p:cNvPr id="10" name="Shape 7"/>
          <p:cNvSpPr/>
          <p:nvPr/>
        </p:nvSpPr>
        <p:spPr>
          <a:xfrm>
            <a:off x="5233360" y="6038652"/>
            <a:ext cx="2022920" cy="287139"/>
          </a:xfrm>
          <a:prstGeom prst="roundRect">
            <a:avLst>
              <a:gd name="adj" fmla="val 22118"/>
            </a:avLst>
          </a:prstGeom>
          <a:noFill/>
          <a:ln w="12700">
            <a:solidFill>
              <a:srgbClr val="FF954F"/>
            </a:solidFill>
            <a:prstDash val="solid"/>
          </a:ln>
        </p:spPr>
      </p:sp>
      <p:sp>
        <p:nvSpPr>
          <p:cNvPr id="11" name="Text 8"/>
          <p:cNvSpPr/>
          <p:nvPr/>
        </p:nvSpPr>
        <p:spPr>
          <a:xfrm>
            <a:off x="5346765" y="6095305"/>
            <a:ext cx="2405697" cy="173831"/>
          </a:xfrm>
          <a:prstGeom prst="rect">
            <a:avLst/>
          </a:prstGeom>
          <a:noFill/>
          <a:ln/>
        </p:spPr>
        <p:txBody>
          <a:bodyPr wrap="none" lIns="0" tIns="0" rIns="0" bIns="0" rtlCol="0" anchor="t"/>
          <a:lstStyle/>
          <a:p>
            <a:pPr algn="l" indent="0" marL="0">
              <a:lnSpc>
                <a:spcPct val="96000"/>
              </a:lnSpc>
              <a:buNone/>
            </a:pPr>
            <a:r>
              <a:rPr lang="en-US" sz="1150" dirty="0">
                <a:solidFill>
                  <a:srgbClr val="FF954F"/>
                </a:solidFill>
                <a:latin typeface="Montserrat" pitchFamily="34" charset="0"/>
                <a:ea typeface="Montserrat" pitchFamily="34" charset="-122"/>
                <a:cs typeface="Montserrat" pitchFamily="34" charset="-120"/>
              </a:rPr>
              <a:t>UNDERGRADUATE LAB</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242020"/>
            <a:ext cx="10868745" cy="706438"/>
          </a:xfrm>
          <a:prstGeom prst="rect">
            <a:avLst/>
          </a:prstGeom>
          <a:noFill/>
          <a:ln/>
        </p:spPr>
        <p:txBody>
          <a:bodyPr wrap="none" lIns="0" tIns="0" rIns="0" bIns="0" rtlCol="0" anchor="t"/>
          <a:lstStyle/>
          <a:p>
            <a:pPr algn="l" indent="0" marL="0">
              <a:lnSpc>
                <a:spcPct val="108000"/>
              </a:lnSpc>
              <a:buNone/>
            </a:pPr>
            <a:r>
              <a:rPr lang="en-US" sz="4250" spc="-43" kern="0" dirty="0">
                <a:solidFill>
                  <a:srgbClr val="532418"/>
                </a:solidFill>
                <a:latin typeface="Marcellus" pitchFamily="34" charset="0"/>
                <a:ea typeface="Marcellus" pitchFamily="34" charset="-122"/>
                <a:cs typeface="Marcellus" pitchFamily="34" charset="-120"/>
              </a:rPr>
              <a:t>What We'll Cover</a:t>
            </a:r>
            <a:endParaRPr lang="en-US" sz="4250" dirty="0"/>
          </a:p>
        </p:txBody>
      </p:sp>
      <p:sp>
        <p:nvSpPr>
          <p:cNvPr id="3" name="Text 1"/>
          <p:cNvSpPr/>
          <p:nvPr/>
        </p:nvSpPr>
        <p:spPr>
          <a:xfrm>
            <a:off x="661475" y="2326481"/>
            <a:ext cx="378014" cy="245666"/>
          </a:xfrm>
          <a:prstGeom prst="rect">
            <a:avLst/>
          </a:prstGeom>
          <a:noFill/>
          <a:ln/>
        </p:spPr>
        <p:txBody>
          <a:bodyPr wrap="none" lIns="0" tIns="0" rIns="0" bIns="0" rtlCol="0" anchor="ctr"/>
          <a:lstStyle/>
          <a:p>
            <a:pPr algn="l" indent="0" marL="0">
              <a:lnSpc>
                <a:spcPct val="100000"/>
              </a:lnSpc>
              <a:buNone/>
            </a:pPr>
            <a:r>
              <a:rPr lang="en-US" sz="1450" spc="-15" kern="0" dirty="0">
                <a:solidFill>
                  <a:srgbClr val="67534F"/>
                </a:solidFill>
                <a:latin typeface="Marcellus" pitchFamily="34" charset="0"/>
                <a:ea typeface="Marcellus" pitchFamily="34" charset="-122"/>
                <a:cs typeface="Marcellus" pitchFamily="34" charset="-120"/>
              </a:rPr>
              <a:t>01</a:t>
            </a:r>
            <a:endParaRPr lang="en-US" sz="1450" dirty="0"/>
          </a:p>
        </p:txBody>
      </p:sp>
      <p:sp>
        <p:nvSpPr>
          <p:cNvPr id="4" name="Shape 2"/>
          <p:cNvSpPr/>
          <p:nvPr/>
        </p:nvSpPr>
        <p:spPr>
          <a:xfrm>
            <a:off x="661475" y="2631777"/>
            <a:ext cx="5339820" cy="25400"/>
          </a:xfrm>
          <a:prstGeom prst="rect">
            <a:avLst/>
          </a:prstGeom>
          <a:solidFill>
            <a:srgbClr val="FF954F"/>
          </a:solidFill>
          <a:ln/>
        </p:spPr>
      </p:sp>
      <p:sp>
        <p:nvSpPr>
          <p:cNvPr id="5" name="Text 3"/>
          <p:cNvSpPr/>
          <p:nvPr/>
        </p:nvSpPr>
        <p:spPr>
          <a:xfrm>
            <a:off x="661475" y="2777034"/>
            <a:ext cx="5339820" cy="353219"/>
          </a:xfrm>
          <a:prstGeom prst="rect">
            <a:avLst/>
          </a:prstGeom>
          <a:noFill/>
          <a:ln/>
        </p:spPr>
        <p:txBody>
          <a:bodyPr wrap="none" lIns="0" tIns="0" rIns="0" bIns="0" rtlCol="0" anchor="t"/>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Problem Setup</a:t>
            </a:r>
            <a:endParaRPr lang="en-US" sz="2100" dirty="0"/>
          </a:p>
        </p:txBody>
      </p:sp>
      <p:sp>
        <p:nvSpPr>
          <p:cNvPr id="6" name="Text 4"/>
          <p:cNvSpPr/>
          <p:nvPr/>
        </p:nvSpPr>
        <p:spPr>
          <a:xfrm>
            <a:off x="661475" y="3243659"/>
            <a:ext cx="5339820" cy="491331"/>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Initial state, constraints, and objectives of the seat assignment challenge.</a:t>
            </a:r>
            <a:endParaRPr lang="en-US" sz="1450" dirty="0"/>
          </a:p>
        </p:txBody>
      </p:sp>
      <p:sp>
        <p:nvSpPr>
          <p:cNvPr id="7" name="Text 5"/>
          <p:cNvSpPr/>
          <p:nvPr/>
        </p:nvSpPr>
        <p:spPr>
          <a:xfrm>
            <a:off x="6190301" y="2326481"/>
            <a:ext cx="378014" cy="245666"/>
          </a:xfrm>
          <a:prstGeom prst="rect">
            <a:avLst/>
          </a:prstGeom>
          <a:noFill/>
          <a:ln/>
        </p:spPr>
        <p:txBody>
          <a:bodyPr wrap="none" lIns="0" tIns="0" rIns="0" bIns="0" rtlCol="0" anchor="ctr"/>
          <a:lstStyle/>
          <a:p>
            <a:pPr algn="l" indent="0" marL="0">
              <a:lnSpc>
                <a:spcPct val="100000"/>
              </a:lnSpc>
              <a:buNone/>
            </a:pPr>
            <a:r>
              <a:rPr lang="en-US" sz="1450" spc="-15" kern="0" dirty="0">
                <a:solidFill>
                  <a:srgbClr val="67534F"/>
                </a:solidFill>
                <a:latin typeface="Marcellus" pitchFamily="34" charset="0"/>
                <a:ea typeface="Marcellus" pitchFamily="34" charset="-122"/>
                <a:cs typeface="Marcellus" pitchFamily="34" charset="-120"/>
              </a:rPr>
              <a:t>02</a:t>
            </a:r>
            <a:endParaRPr lang="en-US" sz="1450" dirty="0"/>
          </a:p>
        </p:txBody>
      </p:sp>
      <p:sp>
        <p:nvSpPr>
          <p:cNvPr id="8" name="Shape 6"/>
          <p:cNvSpPr/>
          <p:nvPr/>
        </p:nvSpPr>
        <p:spPr>
          <a:xfrm>
            <a:off x="6190301" y="2631777"/>
            <a:ext cx="5339919" cy="25400"/>
          </a:xfrm>
          <a:prstGeom prst="rect">
            <a:avLst/>
          </a:prstGeom>
          <a:solidFill>
            <a:srgbClr val="FF954F"/>
          </a:solidFill>
          <a:ln/>
        </p:spPr>
      </p:sp>
      <p:sp>
        <p:nvSpPr>
          <p:cNvPr id="9" name="Text 7"/>
          <p:cNvSpPr/>
          <p:nvPr/>
        </p:nvSpPr>
        <p:spPr>
          <a:xfrm>
            <a:off x="6190301" y="2777034"/>
            <a:ext cx="5339919" cy="353219"/>
          </a:xfrm>
          <a:prstGeom prst="rect">
            <a:avLst/>
          </a:prstGeom>
          <a:noFill/>
          <a:ln/>
        </p:spPr>
        <p:txBody>
          <a:bodyPr wrap="none" lIns="0" tIns="0" rIns="0" bIns="0" rtlCol="0" anchor="t"/>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Three Solution Approaches</a:t>
            </a:r>
            <a:endParaRPr lang="en-US" sz="2100" dirty="0"/>
          </a:p>
        </p:txBody>
      </p:sp>
      <p:sp>
        <p:nvSpPr>
          <p:cNvPr id="10" name="Text 8"/>
          <p:cNvSpPr/>
          <p:nvPr/>
        </p:nvSpPr>
        <p:spPr>
          <a:xfrm>
            <a:off x="6190301" y="3243659"/>
            <a:ext cx="5339919" cy="491331"/>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Brute-Force, Difference Array, and Sweep-Line / Seat Packing — each with distinct trade-offs.</a:t>
            </a:r>
            <a:endParaRPr lang="en-US" sz="1450" dirty="0"/>
          </a:p>
        </p:txBody>
      </p:sp>
      <p:sp>
        <p:nvSpPr>
          <p:cNvPr id="11" name="Text 9"/>
          <p:cNvSpPr/>
          <p:nvPr/>
        </p:nvSpPr>
        <p:spPr>
          <a:xfrm>
            <a:off x="661475" y="4065687"/>
            <a:ext cx="378014" cy="245666"/>
          </a:xfrm>
          <a:prstGeom prst="rect">
            <a:avLst/>
          </a:prstGeom>
          <a:noFill/>
          <a:ln/>
        </p:spPr>
        <p:txBody>
          <a:bodyPr wrap="none" lIns="0" tIns="0" rIns="0" bIns="0" rtlCol="0" anchor="ctr"/>
          <a:lstStyle/>
          <a:p>
            <a:pPr algn="l" indent="0" marL="0">
              <a:lnSpc>
                <a:spcPct val="100000"/>
              </a:lnSpc>
              <a:buNone/>
            </a:pPr>
            <a:r>
              <a:rPr lang="en-US" sz="1450" spc="-15" kern="0" dirty="0">
                <a:solidFill>
                  <a:srgbClr val="67534F"/>
                </a:solidFill>
                <a:latin typeface="Marcellus" pitchFamily="34" charset="0"/>
                <a:ea typeface="Marcellus" pitchFamily="34" charset="-122"/>
                <a:cs typeface="Marcellus" pitchFamily="34" charset="-120"/>
              </a:rPr>
              <a:t>03</a:t>
            </a:r>
            <a:endParaRPr lang="en-US" sz="1450" dirty="0"/>
          </a:p>
        </p:txBody>
      </p:sp>
      <p:sp>
        <p:nvSpPr>
          <p:cNvPr id="12" name="Shape 10"/>
          <p:cNvSpPr/>
          <p:nvPr/>
        </p:nvSpPr>
        <p:spPr>
          <a:xfrm>
            <a:off x="661475" y="4370983"/>
            <a:ext cx="5339820" cy="25400"/>
          </a:xfrm>
          <a:prstGeom prst="rect">
            <a:avLst/>
          </a:prstGeom>
          <a:solidFill>
            <a:srgbClr val="FF954F"/>
          </a:solidFill>
          <a:ln/>
        </p:spPr>
      </p:sp>
      <p:sp>
        <p:nvSpPr>
          <p:cNvPr id="13" name="Text 11"/>
          <p:cNvSpPr/>
          <p:nvPr/>
        </p:nvSpPr>
        <p:spPr>
          <a:xfrm>
            <a:off x="661475" y="4516239"/>
            <a:ext cx="5339820" cy="353219"/>
          </a:xfrm>
          <a:prstGeom prst="rect">
            <a:avLst/>
          </a:prstGeom>
          <a:noFill/>
          <a:ln/>
        </p:spPr>
        <p:txBody>
          <a:bodyPr wrap="none" lIns="0" tIns="0" rIns="0" bIns="0" rtlCol="0" anchor="t"/>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Results &amp; Analysis</a:t>
            </a:r>
            <a:endParaRPr lang="en-US" sz="2100" dirty="0"/>
          </a:p>
        </p:txBody>
      </p:sp>
      <p:sp>
        <p:nvSpPr>
          <p:cNvPr id="14" name="Text 12"/>
          <p:cNvSpPr/>
          <p:nvPr/>
        </p:nvSpPr>
        <p:spPr>
          <a:xfrm>
            <a:off x="661475" y="4982865"/>
            <a:ext cx="5339820" cy="491331"/>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Complexity analysis, seat count outcomes, and identified bottlenecks for each method.</a:t>
            </a:r>
            <a:endParaRPr lang="en-US" sz="1450" dirty="0"/>
          </a:p>
        </p:txBody>
      </p:sp>
      <p:sp>
        <p:nvSpPr>
          <p:cNvPr id="15" name="Text 13"/>
          <p:cNvSpPr/>
          <p:nvPr/>
        </p:nvSpPr>
        <p:spPr>
          <a:xfrm>
            <a:off x="6190301" y="4065687"/>
            <a:ext cx="378014" cy="245666"/>
          </a:xfrm>
          <a:prstGeom prst="rect">
            <a:avLst/>
          </a:prstGeom>
          <a:noFill/>
          <a:ln/>
        </p:spPr>
        <p:txBody>
          <a:bodyPr wrap="none" lIns="0" tIns="0" rIns="0" bIns="0" rtlCol="0" anchor="ctr"/>
          <a:lstStyle/>
          <a:p>
            <a:pPr algn="l" indent="0" marL="0">
              <a:lnSpc>
                <a:spcPct val="100000"/>
              </a:lnSpc>
              <a:buNone/>
            </a:pPr>
            <a:r>
              <a:rPr lang="en-US" sz="1450" spc="-15" kern="0" dirty="0">
                <a:solidFill>
                  <a:srgbClr val="67534F"/>
                </a:solidFill>
                <a:latin typeface="Marcellus" pitchFamily="34" charset="0"/>
                <a:ea typeface="Marcellus" pitchFamily="34" charset="-122"/>
                <a:cs typeface="Marcellus" pitchFamily="34" charset="-120"/>
              </a:rPr>
              <a:t>04</a:t>
            </a:r>
            <a:endParaRPr lang="en-US" sz="1450" dirty="0"/>
          </a:p>
        </p:txBody>
      </p:sp>
      <p:sp>
        <p:nvSpPr>
          <p:cNvPr id="16" name="Shape 14"/>
          <p:cNvSpPr/>
          <p:nvPr/>
        </p:nvSpPr>
        <p:spPr>
          <a:xfrm>
            <a:off x="6190301" y="4370983"/>
            <a:ext cx="5339919" cy="25400"/>
          </a:xfrm>
          <a:prstGeom prst="rect">
            <a:avLst/>
          </a:prstGeom>
          <a:solidFill>
            <a:srgbClr val="FF954F"/>
          </a:solidFill>
          <a:ln/>
        </p:spPr>
      </p:sp>
      <p:sp>
        <p:nvSpPr>
          <p:cNvPr id="17" name="Text 15"/>
          <p:cNvSpPr/>
          <p:nvPr/>
        </p:nvSpPr>
        <p:spPr>
          <a:xfrm>
            <a:off x="6190301" y="4516239"/>
            <a:ext cx="5339919" cy="353219"/>
          </a:xfrm>
          <a:prstGeom prst="rect">
            <a:avLst/>
          </a:prstGeom>
          <a:noFill/>
          <a:ln/>
        </p:spPr>
        <p:txBody>
          <a:bodyPr wrap="none" lIns="0" tIns="0" rIns="0" bIns="0" rtlCol="0" anchor="t"/>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Comparison &amp; Conclusion</a:t>
            </a:r>
            <a:endParaRPr lang="en-US" sz="2100" dirty="0"/>
          </a:p>
        </p:txBody>
      </p:sp>
      <p:sp>
        <p:nvSpPr>
          <p:cNvPr id="18" name="Text 16"/>
          <p:cNvSpPr/>
          <p:nvPr/>
        </p:nvSpPr>
        <p:spPr>
          <a:xfrm>
            <a:off x="6190301" y="4982865"/>
            <a:ext cx="5339919" cy="491331"/>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Side-by-side evaluation and the combined strategy that delivers the optimal EDA solution.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689967"/>
            <a:ext cx="6296860" cy="1412875"/>
          </a:xfrm>
          <a:prstGeom prst="rect">
            <a:avLst/>
          </a:prstGeom>
          <a:noFill/>
          <a:ln/>
        </p:spPr>
        <p:txBody>
          <a:bodyPr wrap="square" lIns="0" tIns="0" rIns="0" bIns="0" rtlCol="0" anchor="t">
            <a:normAutofit/>
          </a:bodyPr>
          <a:lstStyle/>
          <a:p>
            <a:pPr algn="l" indent="0" marL="0">
              <a:lnSpc>
                <a:spcPct val="108000"/>
              </a:lnSpc>
              <a:buNone/>
            </a:pPr>
            <a:r>
              <a:rPr lang="en-US" sz="4250" spc="-43" kern="0" dirty="0">
                <a:solidFill>
                  <a:srgbClr val="532418"/>
                </a:solidFill>
                <a:latin typeface="Marcellus" pitchFamily="34" charset="0"/>
                <a:ea typeface="Marcellus" pitchFamily="34" charset="-122"/>
                <a:cs typeface="Marcellus" pitchFamily="34" charset="-120"/>
              </a:rPr>
              <a:t>Three Approaches at a Glance</a:t>
            </a:r>
            <a:endParaRPr lang="en-US" sz="4250" dirty="0"/>
          </a:p>
        </p:txBody>
      </p:sp>
      <p:sp>
        <p:nvSpPr>
          <p:cNvPr id="4" name="Shape 1"/>
          <p:cNvSpPr/>
          <p:nvPr/>
        </p:nvSpPr>
        <p:spPr>
          <a:xfrm>
            <a:off x="661475" y="2386310"/>
            <a:ext cx="3053877" cy="2218630"/>
          </a:xfrm>
          <a:prstGeom prst="roundRect">
            <a:avLst>
              <a:gd name="adj" fmla="val 3578"/>
            </a:avLst>
          </a:prstGeom>
          <a:solidFill>
            <a:srgbClr val="FFFFF4"/>
          </a:solidFill>
          <a:ln w="19050">
            <a:solidFill>
              <a:srgbClr val="FFE0CC"/>
            </a:solidFill>
            <a:prstDash val="solid"/>
          </a:ln>
        </p:spPr>
      </p:sp>
      <p:sp>
        <p:nvSpPr>
          <p:cNvPr id="5" name="Text 2"/>
          <p:cNvSpPr/>
          <p:nvPr/>
        </p:nvSpPr>
        <p:spPr>
          <a:xfrm>
            <a:off x="869531" y="2594372"/>
            <a:ext cx="2637764" cy="706438"/>
          </a:xfrm>
          <a:prstGeom prst="rect">
            <a:avLst/>
          </a:prstGeom>
          <a:noFill/>
          <a:ln/>
        </p:spPr>
        <p:txBody>
          <a:bodyPr wrap="square" lIns="0" tIns="0" rIns="0" bIns="0" rtlCol="0" anchor="t">
            <a:normAutofit/>
          </a:bodyPr>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Approach 1 — Brute-Force</a:t>
            </a:r>
            <a:endParaRPr lang="en-US" sz="2100" dirty="0"/>
          </a:p>
        </p:txBody>
      </p:sp>
      <p:sp>
        <p:nvSpPr>
          <p:cNvPr id="6" name="Text 3"/>
          <p:cNvSpPr/>
          <p:nvPr/>
        </p:nvSpPr>
        <p:spPr>
          <a:xfrm>
            <a:off x="869531" y="3414216"/>
            <a:ext cx="2637764" cy="736997"/>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Scan every station for every ticket. Simple but scales poorly: </a:t>
            </a:r>
            <a:pPr algn="l" indent="0" marL="0">
              <a:lnSpc>
                <a:spcPct val="108000"/>
              </a:lnSpc>
              <a:buNone/>
            </a:pPr>
            <a:r>
              <a:rPr lang="en-US" sz="1450" b="1" dirty="0">
                <a:solidFill>
                  <a:srgbClr val="67534F"/>
                </a:solidFill>
                <a:latin typeface="Montserrat Bold" pitchFamily="34" charset="0"/>
                <a:ea typeface="Montserrat Bold" pitchFamily="34" charset="-122"/>
                <a:cs typeface="Montserrat Bold" pitchFamily="34" charset="-120"/>
              </a:rPr>
              <a:t>O(n · m)</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a:t>
            </a:r>
            <a:endParaRPr lang="en-US" sz="1450" dirty="0"/>
          </a:p>
        </p:txBody>
      </p:sp>
      <p:sp>
        <p:nvSpPr>
          <p:cNvPr id="7" name="Shape 4"/>
          <p:cNvSpPr/>
          <p:nvPr/>
        </p:nvSpPr>
        <p:spPr>
          <a:xfrm>
            <a:off x="3904359" y="2386310"/>
            <a:ext cx="3053976" cy="2218630"/>
          </a:xfrm>
          <a:prstGeom prst="roundRect">
            <a:avLst>
              <a:gd name="adj" fmla="val 3578"/>
            </a:avLst>
          </a:prstGeom>
          <a:solidFill>
            <a:srgbClr val="FFFFF4"/>
          </a:solidFill>
          <a:ln w="19050">
            <a:solidFill>
              <a:srgbClr val="FFE0CC"/>
            </a:solidFill>
            <a:prstDash val="solid"/>
          </a:ln>
        </p:spPr>
      </p:sp>
      <p:sp>
        <p:nvSpPr>
          <p:cNvPr id="8" name="Text 5"/>
          <p:cNvSpPr/>
          <p:nvPr/>
        </p:nvSpPr>
        <p:spPr>
          <a:xfrm>
            <a:off x="4112415" y="2594372"/>
            <a:ext cx="2637863" cy="706438"/>
          </a:xfrm>
          <a:prstGeom prst="rect">
            <a:avLst/>
          </a:prstGeom>
          <a:noFill/>
          <a:ln/>
        </p:spPr>
        <p:txBody>
          <a:bodyPr wrap="square" lIns="0" tIns="0" rIns="0" bIns="0" rtlCol="0" anchor="t">
            <a:normAutofit/>
          </a:bodyPr>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Approach 2 — Difference Array</a:t>
            </a:r>
            <a:endParaRPr lang="en-US" sz="2100" dirty="0"/>
          </a:p>
        </p:txBody>
      </p:sp>
      <p:sp>
        <p:nvSpPr>
          <p:cNvPr id="9" name="Text 6"/>
          <p:cNvSpPr/>
          <p:nvPr/>
        </p:nvSpPr>
        <p:spPr>
          <a:xfrm>
            <a:off x="4112415" y="3414216"/>
            <a:ext cx="2637863" cy="982663"/>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Mark +1 at boarding and −1 at alighting, then compute cumulative load. Complexity: </a:t>
            </a:r>
            <a:pPr algn="l" indent="0" marL="0">
              <a:lnSpc>
                <a:spcPct val="108000"/>
              </a:lnSpc>
              <a:buNone/>
            </a:pPr>
            <a:r>
              <a:rPr lang="en-US" sz="1450" b="1" dirty="0">
                <a:solidFill>
                  <a:srgbClr val="67534F"/>
                </a:solidFill>
                <a:latin typeface="Montserrat Bold" pitchFamily="34" charset="0"/>
                <a:ea typeface="Montserrat Bold" pitchFamily="34" charset="-122"/>
                <a:cs typeface="Montserrat Bold" pitchFamily="34" charset="-120"/>
              </a:rPr>
              <a:t>O(n + m)</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a:t>
            </a:r>
            <a:endParaRPr lang="en-US" sz="1450" dirty="0"/>
          </a:p>
        </p:txBody>
      </p:sp>
      <p:sp>
        <p:nvSpPr>
          <p:cNvPr id="10" name="Shape 7"/>
          <p:cNvSpPr/>
          <p:nvPr/>
        </p:nvSpPr>
        <p:spPr>
          <a:xfrm>
            <a:off x="661475" y="4793952"/>
            <a:ext cx="6296860" cy="1374080"/>
          </a:xfrm>
          <a:prstGeom prst="roundRect">
            <a:avLst>
              <a:gd name="adj" fmla="val 5778"/>
            </a:avLst>
          </a:prstGeom>
          <a:solidFill>
            <a:srgbClr val="FFFFF4"/>
          </a:solidFill>
          <a:ln w="19050">
            <a:solidFill>
              <a:srgbClr val="FFE0CC"/>
            </a:solidFill>
            <a:prstDash val="solid"/>
          </a:ln>
        </p:spPr>
      </p:sp>
      <p:sp>
        <p:nvSpPr>
          <p:cNvPr id="11" name="Text 8"/>
          <p:cNvSpPr/>
          <p:nvPr/>
        </p:nvSpPr>
        <p:spPr>
          <a:xfrm>
            <a:off x="869531" y="5002014"/>
            <a:ext cx="5880747" cy="353219"/>
          </a:xfrm>
          <a:prstGeom prst="rect">
            <a:avLst/>
          </a:prstGeom>
          <a:noFill/>
          <a:ln/>
        </p:spPr>
        <p:txBody>
          <a:bodyPr wrap="none" lIns="0" tIns="0" rIns="0" bIns="0" rtlCol="0" anchor="t"/>
          <a:lstStyle/>
          <a:p>
            <a:pPr algn="l" indent="0" marL="0">
              <a:lnSpc>
                <a:spcPct val="108000"/>
              </a:lnSpc>
              <a:buNone/>
            </a:pPr>
            <a:r>
              <a:rPr lang="en-US" sz="2100" spc="-21" kern="0" dirty="0">
                <a:solidFill>
                  <a:srgbClr val="67534F"/>
                </a:solidFill>
                <a:latin typeface="Marcellus" pitchFamily="34" charset="0"/>
                <a:ea typeface="Marcellus" pitchFamily="34" charset="-122"/>
                <a:cs typeface="Marcellus" pitchFamily="34" charset="-120"/>
              </a:rPr>
              <a:t>Approach 3 — Sweep-Line</a:t>
            </a:r>
            <a:endParaRPr lang="en-US" sz="2100" dirty="0"/>
          </a:p>
        </p:txBody>
      </p:sp>
      <p:sp>
        <p:nvSpPr>
          <p:cNvPr id="12" name="Text 9"/>
          <p:cNvSpPr/>
          <p:nvPr/>
        </p:nvSpPr>
        <p:spPr>
          <a:xfrm>
            <a:off x="869531" y="5468640"/>
            <a:ext cx="5880747" cy="491331"/>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Sort tickets by start station and reuse freed seats greedily. Complexity: </a:t>
            </a:r>
            <a:pPr algn="l" indent="0" marL="0">
              <a:lnSpc>
                <a:spcPct val="108000"/>
              </a:lnSpc>
              <a:buNone/>
            </a:pPr>
            <a:r>
              <a:rPr lang="en-US" sz="1450" b="1" dirty="0">
                <a:solidFill>
                  <a:srgbClr val="67534F"/>
                </a:solidFill>
                <a:latin typeface="Montserrat Bold" pitchFamily="34" charset="0"/>
                <a:ea typeface="Montserrat Bold" pitchFamily="34" charset="-122"/>
                <a:cs typeface="Montserrat Bold" pitchFamily="34" charset="-120"/>
              </a:rPr>
              <a:t>O(n log n)</a:t>
            </a:r>
            <a:pPr algn="l" indent="0" marL="0">
              <a:lnSpc>
                <a:spcPct val="108000"/>
              </a:lnSpc>
              <a:buNone/>
            </a:pPr>
            <a:r>
              <a:rPr lang="en-US" sz="1450" dirty="0">
                <a:solidFill>
                  <a:srgbClr val="67534F"/>
                </a:solidFill>
                <a:latin typeface="Montserrat" pitchFamily="34" charset="0"/>
                <a:ea typeface="Montserrat" pitchFamily="34" charset="-122"/>
                <a:cs typeface="Montserrat" pitchFamily="34" charset="-120"/>
              </a:rPr>
              <a: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01477"/>
            <a:ext cx="6923410" cy="3923308"/>
          </a:xfrm>
          <a:prstGeom prst="rect">
            <a:avLst/>
          </a:prstGeom>
        </p:spPr>
      </p:pic>
      <p:sp>
        <p:nvSpPr>
          <p:cNvPr id="3" name="Shape 0"/>
          <p:cNvSpPr/>
          <p:nvPr/>
        </p:nvSpPr>
        <p:spPr>
          <a:xfrm>
            <a:off x="7994648" y="920651"/>
            <a:ext cx="1063003" cy="251420"/>
          </a:xfrm>
          <a:prstGeom prst="roundRect">
            <a:avLst>
              <a:gd name="adj" fmla="val 22103"/>
            </a:avLst>
          </a:prstGeom>
          <a:solidFill>
            <a:srgbClr val="FFE0CC"/>
          </a:solidFill>
          <a:ln/>
        </p:spPr>
      </p:sp>
      <p:sp>
        <p:nvSpPr>
          <p:cNvPr id="4" name="Text 1"/>
          <p:cNvSpPr/>
          <p:nvPr/>
        </p:nvSpPr>
        <p:spPr>
          <a:xfrm>
            <a:off x="8093865" y="970260"/>
            <a:ext cx="1474155" cy="152202"/>
          </a:xfrm>
          <a:prstGeom prst="rect">
            <a:avLst/>
          </a:prstGeom>
          <a:noFill/>
          <a:ln/>
        </p:spPr>
        <p:txBody>
          <a:bodyPr wrap="none" lIns="0" tIns="0" rIns="0" bIns="0" rtlCol="0" anchor="t"/>
          <a:lstStyle/>
          <a:p>
            <a:pPr algn="l" indent="0" marL="0">
              <a:lnSpc>
                <a:spcPct val="96000"/>
              </a:lnSpc>
              <a:buNone/>
            </a:pPr>
            <a:r>
              <a:rPr lang="en-US" sz="1000" dirty="0">
                <a:solidFill>
                  <a:srgbClr val="67534F"/>
                </a:solidFill>
                <a:latin typeface="Montserrat" pitchFamily="34" charset="0"/>
                <a:ea typeface="Montserrat" pitchFamily="34" charset="-122"/>
                <a:cs typeface="Montserrat" pitchFamily="34" charset="-120"/>
              </a:rPr>
              <a:t>APPROACH 1</a:t>
            </a:r>
            <a:endParaRPr lang="en-US" sz="1000" dirty="0"/>
          </a:p>
        </p:txBody>
      </p:sp>
      <p:sp>
        <p:nvSpPr>
          <p:cNvPr id="5" name="Text 2"/>
          <p:cNvSpPr/>
          <p:nvPr/>
        </p:nvSpPr>
        <p:spPr>
          <a:xfrm>
            <a:off x="7994648" y="1229916"/>
            <a:ext cx="3541822" cy="1854398"/>
          </a:xfrm>
          <a:prstGeom prst="rect">
            <a:avLst/>
          </a:prstGeom>
          <a:noFill/>
          <a:ln/>
        </p:spPr>
        <p:txBody>
          <a:bodyPr wrap="square" lIns="0" tIns="0" rIns="0" bIns="0" rtlCol="0" anchor="t">
            <a:normAutofit/>
          </a:bodyPr>
          <a:lstStyle/>
          <a:p>
            <a:pPr algn="l" indent="0" marL="0">
              <a:lnSpc>
                <a:spcPct val="108000"/>
              </a:lnSpc>
              <a:buNone/>
            </a:pPr>
            <a:r>
              <a:rPr lang="en-US" sz="3700" spc="-37" kern="0" dirty="0">
                <a:solidFill>
                  <a:srgbClr val="532418"/>
                </a:solidFill>
                <a:latin typeface="Marcellus" pitchFamily="34" charset="0"/>
                <a:ea typeface="Marcellus" pitchFamily="34" charset="-122"/>
                <a:cs typeface="Marcellus" pitchFamily="34" charset="-120"/>
              </a:rPr>
              <a:t>Brute-Force / Linear Station Scan</a:t>
            </a:r>
            <a:endParaRPr lang="en-US" sz="3700" dirty="0"/>
          </a:p>
        </p:txBody>
      </p:sp>
      <p:sp>
        <p:nvSpPr>
          <p:cNvPr id="6" name="Text 3"/>
          <p:cNvSpPr/>
          <p:nvPr/>
        </p:nvSpPr>
        <p:spPr>
          <a:xfrm>
            <a:off x="7994648" y="3228975"/>
            <a:ext cx="3541822" cy="1209080"/>
          </a:xfrm>
          <a:prstGeom prst="rect">
            <a:avLst/>
          </a:prstGeom>
          <a:noFill/>
          <a:ln/>
        </p:spPr>
        <p:txBody>
          <a:bodyPr wrap="square" lIns="0" tIns="0" rIns="0" bIns="0" rtlCol="0" anchor="t">
            <a:normAutofit/>
          </a:bodyPr>
          <a:lstStyle/>
          <a:p>
            <a:pPr algn="l" indent="0" marL="0">
              <a:lnSpc>
                <a:spcPct val="102000"/>
              </a:lnSpc>
              <a:buNone/>
            </a:pPr>
            <a:r>
              <a:rPr lang="en-US" sz="1300" dirty="0">
                <a:solidFill>
                  <a:srgbClr val="67534F"/>
                </a:solidFill>
                <a:latin typeface="Montserrat" pitchFamily="34" charset="0"/>
                <a:ea typeface="Montserrat" pitchFamily="34" charset="-122"/>
                <a:cs typeface="Montserrat" pitchFamily="34" charset="-120"/>
              </a:rPr>
              <a:t>For each ticket, iterate through every station on the route and count how many passengers are present at each checkpoint. The maximum count across all stations equals the minimum seats needed.</a:t>
            </a:r>
            <a:endParaRPr lang="en-US" sz="13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4950222"/>
            <a:ext cx="5362044" cy="1369020"/>
          </a:xfrm>
          <a:prstGeom prst="rect">
            <a:avLst/>
          </a:prstGeom>
        </p:spPr>
      </p:pic>
      <p:sp>
        <p:nvSpPr>
          <p:cNvPr id="8" name="Text 4"/>
          <p:cNvSpPr/>
          <p:nvPr/>
        </p:nvSpPr>
        <p:spPr>
          <a:xfrm>
            <a:off x="922017" y="5134570"/>
            <a:ext cx="4917158" cy="308967"/>
          </a:xfrm>
          <a:prstGeom prst="rect">
            <a:avLst/>
          </a:prstGeom>
          <a:noFill/>
          <a:ln/>
        </p:spPr>
        <p:txBody>
          <a:bodyPr wrap="none" lIns="0" tIns="0" rIns="0" bIns="0" rtlCol="0" anchor="t"/>
          <a:lstStyle/>
          <a:p>
            <a:pPr algn="l" indent="0" marL="0">
              <a:lnSpc>
                <a:spcPct val="108000"/>
              </a:lnSpc>
              <a:buNone/>
            </a:pPr>
            <a:r>
              <a:rPr lang="en-US" sz="1850" spc="-19" kern="0" dirty="0">
                <a:solidFill>
                  <a:srgbClr val="67534F"/>
                </a:solidFill>
                <a:latin typeface="Marcellus" pitchFamily="34" charset="0"/>
                <a:ea typeface="Marcellus" pitchFamily="34" charset="-122"/>
                <a:cs typeface="Marcellus" pitchFamily="34" charset="-120"/>
              </a:rPr>
              <a:t>Result</a:t>
            </a:r>
            <a:endParaRPr lang="en-US" sz="1850" dirty="0"/>
          </a:p>
        </p:txBody>
      </p:sp>
      <p:sp>
        <p:nvSpPr>
          <p:cNvPr id="9" name="Text 5"/>
          <p:cNvSpPr/>
          <p:nvPr/>
        </p:nvSpPr>
        <p:spPr>
          <a:xfrm>
            <a:off x="922017" y="5530354"/>
            <a:ext cx="4917158" cy="403027"/>
          </a:xfrm>
          <a:prstGeom prst="rect">
            <a:avLst/>
          </a:prstGeom>
          <a:noFill/>
          <a:ln/>
        </p:spPr>
        <p:txBody>
          <a:bodyPr wrap="square" lIns="0" tIns="0" rIns="0" bIns="0" rtlCol="0" anchor="t">
            <a:normAutofit/>
          </a:bodyPr>
          <a:lstStyle/>
          <a:p>
            <a:pPr algn="l" indent="0" marL="0">
              <a:lnSpc>
                <a:spcPct val="102000"/>
              </a:lnSpc>
              <a:buNone/>
            </a:pPr>
            <a:r>
              <a:rPr lang="en-US" sz="1300" dirty="0">
                <a:solidFill>
                  <a:srgbClr val="67534F"/>
                </a:solidFill>
                <a:latin typeface="Montserrat" pitchFamily="34" charset="0"/>
                <a:ea typeface="Montserrat" pitchFamily="34" charset="-122"/>
                <a:cs typeface="Montserrat" pitchFamily="34" charset="-120"/>
              </a:rPr>
              <a:t>Correctly identifies the peak seat requirement by exhaustively scanning all station checkpoints.</a:t>
            </a:r>
            <a:endParaRPr lang="en-US" sz="13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8176" y="4950222"/>
            <a:ext cx="5362044" cy="1369020"/>
          </a:xfrm>
          <a:prstGeom prst="rect">
            <a:avLst/>
          </a:prstGeom>
        </p:spPr>
      </p:pic>
      <p:sp>
        <p:nvSpPr>
          <p:cNvPr id="11" name="Text 6"/>
          <p:cNvSpPr/>
          <p:nvPr/>
        </p:nvSpPr>
        <p:spPr>
          <a:xfrm>
            <a:off x="6428718" y="5134570"/>
            <a:ext cx="4917158" cy="308967"/>
          </a:xfrm>
          <a:prstGeom prst="rect">
            <a:avLst/>
          </a:prstGeom>
          <a:noFill/>
          <a:ln/>
        </p:spPr>
        <p:txBody>
          <a:bodyPr wrap="none" lIns="0" tIns="0" rIns="0" bIns="0" rtlCol="0" anchor="t"/>
          <a:lstStyle/>
          <a:p>
            <a:pPr algn="l" indent="0" marL="0">
              <a:lnSpc>
                <a:spcPct val="108000"/>
              </a:lnSpc>
              <a:buNone/>
            </a:pPr>
            <a:r>
              <a:rPr lang="en-US" sz="1850" spc="-19" kern="0" dirty="0">
                <a:solidFill>
                  <a:srgbClr val="67534F"/>
                </a:solidFill>
                <a:latin typeface="Marcellus" pitchFamily="34" charset="0"/>
                <a:ea typeface="Marcellus" pitchFamily="34" charset="-122"/>
                <a:cs typeface="Marcellus" pitchFamily="34" charset="-120"/>
              </a:rPr>
              <a:t>Limitation</a:t>
            </a:r>
            <a:endParaRPr lang="en-US" sz="1850" dirty="0"/>
          </a:p>
        </p:txBody>
      </p:sp>
      <p:sp>
        <p:nvSpPr>
          <p:cNvPr id="12" name="Text 7"/>
          <p:cNvSpPr/>
          <p:nvPr/>
        </p:nvSpPr>
        <p:spPr>
          <a:xfrm>
            <a:off x="6428718" y="5530354"/>
            <a:ext cx="4917158" cy="604540"/>
          </a:xfrm>
          <a:prstGeom prst="rect">
            <a:avLst/>
          </a:prstGeom>
          <a:noFill/>
          <a:ln/>
        </p:spPr>
        <p:txBody>
          <a:bodyPr wrap="square" lIns="0" tIns="0" rIns="0" bIns="0" rtlCol="0" anchor="t">
            <a:normAutofit/>
          </a:bodyPr>
          <a:lstStyle/>
          <a:p>
            <a:pPr algn="l" indent="0" marL="0">
              <a:lnSpc>
                <a:spcPct val="102000"/>
              </a:lnSpc>
              <a:buNone/>
            </a:pPr>
            <a:r>
              <a:rPr lang="en-US" sz="1300" dirty="0">
                <a:solidFill>
                  <a:srgbClr val="67534F"/>
                </a:solidFill>
                <a:latin typeface="Montserrat" pitchFamily="34" charset="0"/>
                <a:ea typeface="Montserrat" pitchFamily="34" charset="-122"/>
                <a:cs typeface="Montserrat" pitchFamily="34" charset="-120"/>
              </a:rPr>
              <a:t>Time complexity </a:t>
            </a:r>
            <a:pPr algn="l" indent="0" marL="0">
              <a:lnSpc>
                <a:spcPct val="102000"/>
              </a:lnSpc>
              <a:buNone/>
            </a:pPr>
            <a:r>
              <a:rPr lang="en-US" sz="1300" b="1" dirty="0">
                <a:solidFill>
                  <a:srgbClr val="67534F"/>
                </a:solidFill>
                <a:latin typeface="Montserrat Bold" pitchFamily="34" charset="0"/>
                <a:ea typeface="Montserrat Bold" pitchFamily="34" charset="-122"/>
                <a:cs typeface="Montserrat Bold" pitchFamily="34" charset="-120"/>
              </a:rPr>
              <a:t>O(n · m)</a:t>
            </a:r>
            <a:pPr algn="l" indent="0" marL="0">
              <a:lnSpc>
                <a:spcPct val="102000"/>
              </a:lnSpc>
              <a:buNone/>
            </a:pPr>
            <a:r>
              <a:rPr lang="en-US" sz="1300" dirty="0">
                <a:solidFill>
                  <a:srgbClr val="67534F"/>
                </a:solidFill>
                <a:latin typeface="Montserrat" pitchFamily="34" charset="0"/>
                <a:ea typeface="Montserrat" pitchFamily="34" charset="-122"/>
                <a:cs typeface="Montserrat" pitchFamily="34" charset="-120"/>
              </a:rPr>
              <a:t> — becomes prohibitively slow as ticket volumes or station counts grow in real-world EDA scenarios.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26355"/>
            <a:ext cx="1187718" cy="273645"/>
          </a:xfrm>
          <a:prstGeom prst="roundRect">
            <a:avLst>
              <a:gd name="adj" fmla="val 22121"/>
            </a:avLst>
          </a:prstGeom>
          <a:solidFill>
            <a:srgbClr val="FFE0CC"/>
          </a:solidFill>
          <a:ln/>
        </p:spPr>
      </p:sp>
      <p:sp>
        <p:nvSpPr>
          <p:cNvPr id="3" name="Text 1"/>
          <p:cNvSpPr/>
          <p:nvPr/>
        </p:nvSpPr>
        <p:spPr>
          <a:xfrm>
            <a:off x="769521" y="580330"/>
            <a:ext cx="1581210" cy="165695"/>
          </a:xfrm>
          <a:prstGeom prst="rect">
            <a:avLst/>
          </a:prstGeom>
          <a:noFill/>
          <a:ln/>
        </p:spPr>
        <p:txBody>
          <a:bodyPr wrap="none" lIns="0" tIns="0" rIns="0" bIns="0" rtlCol="0" anchor="t"/>
          <a:lstStyle/>
          <a:p>
            <a:pPr algn="l" indent="0" marL="0">
              <a:lnSpc>
                <a:spcPct val="96000"/>
              </a:lnSpc>
              <a:buNone/>
            </a:pPr>
            <a:r>
              <a:rPr lang="en-US" sz="1100" dirty="0">
                <a:solidFill>
                  <a:srgbClr val="67534F"/>
                </a:solidFill>
                <a:latin typeface="Montserrat" pitchFamily="34" charset="0"/>
                <a:ea typeface="Montserrat" pitchFamily="34" charset="-122"/>
                <a:cs typeface="Montserrat" pitchFamily="34" charset="-120"/>
              </a:rPr>
              <a:t>APPROACH 2</a:t>
            </a:r>
            <a:endParaRPr lang="en-US" sz="1100" dirty="0"/>
          </a:p>
        </p:txBody>
      </p:sp>
      <p:sp>
        <p:nvSpPr>
          <p:cNvPr id="4" name="Text 2"/>
          <p:cNvSpPr/>
          <p:nvPr/>
        </p:nvSpPr>
        <p:spPr>
          <a:xfrm>
            <a:off x="661475" y="868660"/>
            <a:ext cx="10868745" cy="673298"/>
          </a:xfrm>
          <a:prstGeom prst="rect">
            <a:avLst/>
          </a:prstGeom>
          <a:noFill/>
          <a:ln/>
        </p:spPr>
        <p:txBody>
          <a:bodyPr wrap="none" lIns="0" tIns="0" rIns="0" bIns="0" rtlCol="0" anchor="t"/>
          <a:lstStyle/>
          <a:p>
            <a:pPr algn="l" indent="0" marL="0">
              <a:lnSpc>
                <a:spcPct val="108000"/>
              </a:lnSpc>
              <a:buNone/>
            </a:pPr>
            <a:r>
              <a:rPr lang="en-US" sz="4050" spc="-41" kern="0" dirty="0">
                <a:solidFill>
                  <a:srgbClr val="532418"/>
                </a:solidFill>
                <a:latin typeface="Marcellus" pitchFamily="34" charset="0"/>
                <a:ea typeface="Marcellus" pitchFamily="34" charset="-122"/>
                <a:cs typeface="Marcellus" pitchFamily="34" charset="-120"/>
              </a:rPr>
              <a:t>Difference Array / Load Analysis</a:t>
            </a:r>
            <a:endParaRPr lang="en-US" sz="4050" dirty="0"/>
          </a:p>
        </p:txBody>
      </p:sp>
      <p:pic>
        <p:nvPicPr>
          <p:cNvPr id="5" name="Image 0" descr="preencoded.png">    </p:cNvPr>
          <p:cNvPicPr>
            <a:picLocks noChangeAspect="1"/>
          </p:cNvPicPr>
          <p:nvPr/>
        </p:nvPicPr>
        <p:blipFill>
          <a:blip r:embed="rId1"/>
          <a:stretch>
            <a:fillRect/>
          </a:stretch>
        </p:blipFill>
        <p:spPr>
          <a:xfrm>
            <a:off x="661475" y="2850952"/>
            <a:ext cx="6910810" cy="2429173"/>
          </a:xfrm>
          <a:prstGeom prst="rect">
            <a:avLst/>
          </a:prstGeom>
        </p:spPr>
      </p:pic>
      <p:sp>
        <p:nvSpPr>
          <p:cNvPr id="6" name="Text 3"/>
          <p:cNvSpPr/>
          <p:nvPr/>
        </p:nvSpPr>
        <p:spPr>
          <a:xfrm>
            <a:off x="8018163" y="1971179"/>
            <a:ext cx="3518308" cy="336649"/>
          </a:xfrm>
          <a:prstGeom prst="rect">
            <a:avLst/>
          </a:prstGeom>
          <a:noFill/>
          <a:ln/>
        </p:spPr>
        <p:txBody>
          <a:bodyPr wrap="none" lIns="0" tIns="0" rIns="0" bIns="0" rtlCol="0" anchor="t"/>
          <a:lstStyle/>
          <a:p>
            <a:pPr algn="l" indent="0" marL="0">
              <a:lnSpc>
                <a:spcPct val="108000"/>
              </a:lnSpc>
              <a:buNone/>
            </a:pPr>
            <a:r>
              <a:rPr lang="en-US" sz="2000" spc="-20" kern="0" dirty="0">
                <a:solidFill>
                  <a:srgbClr val="532418"/>
                </a:solidFill>
                <a:latin typeface="Marcellus" pitchFamily="34" charset="0"/>
                <a:ea typeface="Marcellus" pitchFamily="34" charset="-122"/>
                <a:cs typeface="Marcellus" pitchFamily="34" charset="-120"/>
              </a:rPr>
              <a:t>How It Works</a:t>
            </a:r>
            <a:endParaRPr lang="en-US" sz="2000" dirty="0"/>
          </a:p>
        </p:txBody>
      </p:sp>
      <p:sp>
        <p:nvSpPr>
          <p:cNvPr id="7" name="Text 4"/>
          <p:cNvSpPr/>
          <p:nvPr/>
        </p:nvSpPr>
        <p:spPr>
          <a:xfrm>
            <a:off x="8018163" y="2479477"/>
            <a:ext cx="3518308" cy="1391245"/>
          </a:xfrm>
          <a:prstGeom prst="rect">
            <a:avLst/>
          </a:prstGeom>
          <a:noFill/>
          <a:ln/>
        </p:spPr>
        <p:txBody>
          <a:bodyPr wrap="square" lIns="0" tIns="0" rIns="0" bIns="0" rtlCol="0" anchor="t">
            <a:normAutofit/>
          </a:bodyPr>
          <a:lstStyle/>
          <a:p>
            <a:pPr algn="l" indent="0" marL="0">
              <a:lnSpc>
                <a:spcPct val="106000"/>
              </a:lnSpc>
              <a:buNone/>
            </a:pPr>
            <a:r>
              <a:rPr lang="en-US" sz="1400" dirty="0">
                <a:solidFill>
                  <a:srgbClr val="67534F"/>
                </a:solidFill>
                <a:latin typeface="Montserrat" pitchFamily="34" charset="0"/>
                <a:ea typeface="Montserrat" pitchFamily="34" charset="-122"/>
                <a:cs typeface="Montserrat" pitchFamily="34" charset="-120"/>
              </a:rPr>
              <a:t>Initialize a difference array </a:t>
            </a:r>
            <a:pPr algn="l" indent="0" marL="0">
              <a:lnSpc>
                <a:spcPct val="106000"/>
              </a:lnSpc>
              <a:buNone/>
            </a:pPr>
            <a:r>
              <a:rPr lang="en-US" sz="1400" dirty="0">
                <a:solidFill>
                  <a:srgbClr val="67534F"/>
                </a:solidFill>
                <a:highlight>
                  <a:srgbClr val="F2F2E7"/>
                </a:highlight>
                <a:latin typeface="Consolas" pitchFamily="34" charset="0"/>
                <a:ea typeface="Consolas" pitchFamily="34" charset="-122"/>
                <a:cs typeface="Consolas" pitchFamily="34" charset="-120"/>
              </a:rPr>
              <a:t>diff</a:t>
            </a:r>
            <a:pPr algn="l" indent="0" marL="0">
              <a:lnSpc>
                <a:spcPct val="106000"/>
              </a:lnSpc>
              <a:buNone/>
            </a:pPr>
            <a:r>
              <a:rPr lang="en-US" sz="1400" dirty="0">
                <a:solidFill>
                  <a:srgbClr val="67534F"/>
                </a:solidFill>
                <a:latin typeface="Montserrat" pitchFamily="34" charset="0"/>
                <a:ea typeface="Montserrat" pitchFamily="34" charset="-122"/>
                <a:cs typeface="Montserrat" pitchFamily="34" charset="-120"/>
              </a:rPr>
              <a:t>. For each ticket, add </a:t>
            </a:r>
            <a:pPr algn="l" indent="0" marL="0">
              <a:lnSpc>
                <a:spcPct val="106000"/>
              </a:lnSpc>
              <a:buNone/>
            </a:pPr>
            <a:r>
              <a:rPr lang="en-US" sz="1400" dirty="0">
                <a:solidFill>
                  <a:srgbClr val="67534F"/>
                </a:solidFill>
                <a:highlight>
                  <a:srgbClr val="F2F2E7"/>
                </a:highlight>
                <a:latin typeface="Consolas" pitchFamily="34" charset="0"/>
                <a:ea typeface="Consolas" pitchFamily="34" charset="-122"/>
                <a:cs typeface="Consolas" pitchFamily="34" charset="-120"/>
              </a:rPr>
              <a:t>+1</a:t>
            </a:r>
            <a:pPr algn="l" indent="0" marL="0">
              <a:lnSpc>
                <a:spcPct val="106000"/>
              </a:lnSpc>
              <a:buNone/>
            </a:pPr>
            <a:r>
              <a:rPr lang="en-US" sz="1400" dirty="0">
                <a:solidFill>
                  <a:srgbClr val="67534F"/>
                </a:solidFill>
                <a:latin typeface="Montserrat" pitchFamily="34" charset="0"/>
                <a:ea typeface="Montserrat" pitchFamily="34" charset="-122"/>
                <a:cs typeface="Montserrat" pitchFamily="34" charset="-120"/>
              </a:rPr>
              <a:t> at the boarding station and </a:t>
            </a:r>
            <a:pPr algn="l" indent="0" marL="0">
              <a:lnSpc>
                <a:spcPct val="106000"/>
              </a:lnSpc>
              <a:buNone/>
            </a:pPr>
            <a:r>
              <a:rPr lang="en-US" sz="1400" dirty="0">
                <a:solidFill>
                  <a:srgbClr val="67534F"/>
                </a:solidFill>
                <a:highlight>
                  <a:srgbClr val="F2F2E7"/>
                </a:highlight>
                <a:latin typeface="Consolas" pitchFamily="34" charset="0"/>
                <a:ea typeface="Consolas" pitchFamily="34" charset="-122"/>
                <a:cs typeface="Consolas" pitchFamily="34" charset="-120"/>
              </a:rPr>
              <a:t>−1</a:t>
            </a:r>
            <a:pPr algn="l" indent="0" marL="0">
              <a:lnSpc>
                <a:spcPct val="106000"/>
              </a:lnSpc>
              <a:buNone/>
            </a:pPr>
            <a:r>
              <a:rPr lang="en-US" sz="1400" dirty="0">
                <a:solidFill>
                  <a:srgbClr val="67534F"/>
                </a:solidFill>
                <a:latin typeface="Montserrat" pitchFamily="34" charset="0"/>
                <a:ea typeface="Montserrat" pitchFamily="34" charset="-122"/>
                <a:cs typeface="Montserrat" pitchFamily="34" charset="-120"/>
              </a:rPr>
              <a:t> at the alighting station. A single cumulative-sum sweep reveals passenger density across every track segment.</a:t>
            </a:r>
            <a:endParaRPr lang="en-US" sz="1400" dirty="0"/>
          </a:p>
        </p:txBody>
      </p:sp>
      <p:sp>
        <p:nvSpPr>
          <p:cNvPr id="8" name="Text 5"/>
          <p:cNvSpPr/>
          <p:nvPr/>
        </p:nvSpPr>
        <p:spPr>
          <a:xfrm>
            <a:off x="8018163" y="4042370"/>
            <a:ext cx="3518308" cy="336649"/>
          </a:xfrm>
          <a:prstGeom prst="rect">
            <a:avLst/>
          </a:prstGeom>
          <a:noFill/>
          <a:ln/>
        </p:spPr>
        <p:txBody>
          <a:bodyPr wrap="none" lIns="0" tIns="0" rIns="0" bIns="0" rtlCol="0" anchor="t"/>
          <a:lstStyle/>
          <a:p>
            <a:pPr algn="l" indent="0" marL="0">
              <a:lnSpc>
                <a:spcPct val="108000"/>
              </a:lnSpc>
              <a:buNone/>
            </a:pPr>
            <a:r>
              <a:rPr lang="en-US" sz="2000" spc="-20" kern="0" dirty="0">
                <a:solidFill>
                  <a:srgbClr val="532418"/>
                </a:solidFill>
                <a:latin typeface="Marcellus" pitchFamily="34" charset="0"/>
                <a:ea typeface="Marcellus" pitchFamily="34" charset="-122"/>
                <a:cs typeface="Marcellus" pitchFamily="34" charset="-120"/>
              </a:rPr>
              <a:t>Key Results</a:t>
            </a:r>
            <a:endParaRPr lang="en-US" sz="2000" dirty="0"/>
          </a:p>
        </p:txBody>
      </p:sp>
      <p:sp>
        <p:nvSpPr>
          <p:cNvPr id="9" name="Text 6"/>
          <p:cNvSpPr/>
          <p:nvPr/>
        </p:nvSpPr>
        <p:spPr>
          <a:xfrm>
            <a:off x="8018163" y="4550668"/>
            <a:ext cx="3518308" cy="1720949"/>
          </a:xfrm>
          <a:prstGeom prst="rect">
            <a:avLst/>
          </a:prstGeom>
          <a:noFill/>
          <a:ln/>
        </p:spPr>
        <p:txBody>
          <a:bodyPr wrap="square" lIns="0" tIns="0" rIns="0" bIns="0" rtlCol="0" anchor="t">
            <a:normAutofit/>
          </a:bodyPr>
          <a:lstStyle/>
          <a:p>
            <a:pPr algn="l" marL="284480" indent="-284480">
              <a:lnSpc>
                <a:spcPct val="106000"/>
              </a:lnSpc>
              <a:buSzPct val="100000"/>
              <a:buChar char="•"/>
            </a:pPr>
            <a:r>
              <a:rPr lang="en-US" sz="1400" dirty="0">
                <a:solidFill>
                  <a:srgbClr val="67534F"/>
                </a:solidFill>
                <a:latin typeface="Montserrat" pitchFamily="34" charset="0"/>
                <a:ea typeface="Montserrat" pitchFamily="34" charset="-122"/>
                <a:cs typeface="Montserrat" pitchFamily="34" charset="-120"/>
              </a:rPr>
              <a:t>Highest-density segment identified: between </a:t>
            </a:r>
            <a:pPr algn="l" marL="284480" indent="-284480">
              <a:lnSpc>
                <a:spcPct val="106000"/>
              </a:lnSpc>
              <a:buSzPct val="100000"/>
              <a:buChar char="•"/>
            </a:pPr>
            <a:r>
              <a:rPr lang="en-US" sz="1400" b="1" dirty="0">
                <a:solidFill>
                  <a:srgbClr val="67534F"/>
                </a:solidFill>
                <a:latin typeface="Montserrat Bold" pitchFamily="34" charset="0"/>
                <a:ea typeface="Montserrat Bold" pitchFamily="34" charset="-122"/>
                <a:cs typeface="Montserrat Bold" pitchFamily="34" charset="-120"/>
              </a:rPr>
              <a:t>Station 3 and Station 4</a:t>
            </a:r>
            <a:endParaRPr lang="en-US" sz="1400" dirty="0"/>
          </a:p>
          <a:p>
            <a:pPr algn="l" marL="284480" indent="-284480">
              <a:lnSpc>
                <a:spcPct val="106000"/>
              </a:lnSpc>
              <a:buSzPct val="100000"/>
              <a:buChar char="•"/>
            </a:pPr>
            <a:r>
              <a:rPr lang="en-US" sz="1400" dirty="0">
                <a:solidFill>
                  <a:srgbClr val="67534F"/>
                </a:solidFill>
                <a:latin typeface="Montserrat" pitchFamily="34" charset="0"/>
                <a:ea typeface="Montserrat" pitchFamily="34" charset="-122"/>
                <a:cs typeface="Montserrat" pitchFamily="34" charset="-120"/>
              </a:rPr>
              <a:t>Minimum seats required: </a:t>
            </a:r>
            <a:pPr algn="l" marL="284480" indent="-284480">
              <a:lnSpc>
                <a:spcPct val="106000"/>
              </a:lnSpc>
              <a:buSzPct val="100000"/>
              <a:buChar char="•"/>
            </a:pPr>
            <a:r>
              <a:rPr lang="en-US" sz="1400" b="1" dirty="0">
                <a:solidFill>
                  <a:srgbClr val="FF954F"/>
                </a:solidFill>
                <a:latin typeface="Montserrat Bold" pitchFamily="34" charset="0"/>
                <a:ea typeface="Montserrat Bold" pitchFamily="34" charset="-122"/>
                <a:cs typeface="Montserrat Bold" pitchFamily="34" charset="-120"/>
              </a:rPr>
              <a:t>8 seats</a:t>
            </a:r>
            <a:endParaRPr lang="en-US" sz="1400" dirty="0"/>
          </a:p>
          <a:p>
            <a:pPr algn="l" marL="284480" indent="-284480">
              <a:lnSpc>
                <a:spcPct val="106000"/>
              </a:lnSpc>
              <a:buSzPct val="100000"/>
              <a:buChar char="•"/>
            </a:pPr>
            <a:r>
              <a:rPr lang="en-US" sz="1400" dirty="0">
                <a:solidFill>
                  <a:srgbClr val="67534F"/>
                </a:solidFill>
                <a:latin typeface="Montserrat" pitchFamily="34" charset="0"/>
                <a:ea typeface="Montserrat" pitchFamily="34" charset="-122"/>
                <a:cs typeface="Montserrat" pitchFamily="34" charset="-120"/>
              </a:rPr>
              <a:t>Time complexity improved to </a:t>
            </a:r>
            <a:pPr algn="l" marL="284480" indent="-284480">
              <a:lnSpc>
                <a:spcPct val="106000"/>
              </a:lnSpc>
              <a:buSzPct val="100000"/>
              <a:buChar char="•"/>
            </a:pPr>
            <a:r>
              <a:rPr lang="en-US" sz="1400" b="1" dirty="0">
                <a:solidFill>
                  <a:srgbClr val="67534F"/>
                </a:solidFill>
                <a:latin typeface="Montserrat Bold" pitchFamily="34" charset="0"/>
                <a:ea typeface="Montserrat Bold" pitchFamily="34" charset="-122"/>
                <a:cs typeface="Montserrat Bold" pitchFamily="34" charset="-120"/>
              </a:rPr>
              <a:t>O(n + m)</a:t>
            </a:r>
            <a:pPr algn="l" marL="284480" indent="-284480">
              <a:lnSpc>
                <a:spcPct val="106000"/>
              </a:lnSpc>
              <a:buSzPct val="100000"/>
              <a:buChar char="•"/>
            </a:pPr>
            <a:r>
              <a:rPr lang="en-US" sz="1400" dirty="0">
                <a:solidFill>
                  <a:srgbClr val="67534F"/>
                </a:solidFill>
                <a:latin typeface="Montserrat" pitchFamily="34" charset="0"/>
                <a:ea typeface="Montserrat" pitchFamily="34" charset="-122"/>
                <a:cs typeface="Montserrat" pitchFamily="34" charset="-120"/>
              </a:rPr>
              <a:t> — a dramatic gain over Approach 1</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26951"/>
            <a:ext cx="1070246" cy="246856"/>
          </a:xfrm>
          <a:prstGeom prst="roundRect">
            <a:avLst>
              <a:gd name="adj" fmla="val 22110"/>
            </a:avLst>
          </a:prstGeom>
          <a:solidFill>
            <a:srgbClr val="FFE0CC"/>
          </a:solidFill>
          <a:ln/>
        </p:spPr>
      </p:sp>
      <p:sp>
        <p:nvSpPr>
          <p:cNvPr id="3" name="Text 1"/>
          <p:cNvSpPr/>
          <p:nvPr/>
        </p:nvSpPr>
        <p:spPr>
          <a:xfrm>
            <a:off x="758905" y="575667"/>
            <a:ext cx="1484970" cy="149423"/>
          </a:xfrm>
          <a:prstGeom prst="rect">
            <a:avLst/>
          </a:prstGeom>
          <a:noFill/>
          <a:ln/>
        </p:spPr>
        <p:txBody>
          <a:bodyPr wrap="none" lIns="0" tIns="0" rIns="0" bIns="0" rtlCol="0" anchor="t"/>
          <a:lstStyle/>
          <a:p>
            <a:pPr algn="l" indent="0" marL="0">
              <a:lnSpc>
                <a:spcPct val="96000"/>
              </a:lnSpc>
              <a:buNone/>
            </a:pPr>
            <a:r>
              <a:rPr lang="en-US" sz="1000" dirty="0">
                <a:solidFill>
                  <a:srgbClr val="67534F"/>
                </a:solidFill>
                <a:latin typeface="Montserrat" pitchFamily="34" charset="0"/>
                <a:ea typeface="Montserrat" pitchFamily="34" charset="-122"/>
                <a:cs typeface="Montserrat" pitchFamily="34" charset="-120"/>
              </a:rPr>
              <a:t>APPROACH 3</a:t>
            </a:r>
            <a:endParaRPr lang="en-US" sz="1000" dirty="0"/>
          </a:p>
        </p:txBody>
      </p:sp>
      <p:sp>
        <p:nvSpPr>
          <p:cNvPr id="4" name="Text 2"/>
          <p:cNvSpPr/>
          <p:nvPr/>
        </p:nvSpPr>
        <p:spPr>
          <a:xfrm>
            <a:off x="661475" y="829568"/>
            <a:ext cx="10868745" cy="607120"/>
          </a:xfrm>
          <a:prstGeom prst="rect">
            <a:avLst/>
          </a:prstGeom>
          <a:noFill/>
          <a:ln/>
        </p:spPr>
        <p:txBody>
          <a:bodyPr wrap="none" lIns="0" tIns="0" rIns="0" bIns="0" rtlCol="0" anchor="t"/>
          <a:lstStyle/>
          <a:p>
            <a:pPr algn="l" indent="0" marL="0">
              <a:lnSpc>
                <a:spcPct val="108000"/>
              </a:lnSpc>
              <a:buNone/>
            </a:pPr>
            <a:r>
              <a:rPr lang="en-US" sz="3650" spc="-37" kern="0" dirty="0">
                <a:solidFill>
                  <a:srgbClr val="532418"/>
                </a:solidFill>
                <a:latin typeface="Marcellus" pitchFamily="34" charset="0"/>
                <a:ea typeface="Marcellus" pitchFamily="34" charset="-122"/>
                <a:cs typeface="Marcellus" pitchFamily="34" charset="-120"/>
              </a:rPr>
              <a:t>Sweep-Line / Seat Packing</a:t>
            </a:r>
            <a:endParaRPr lang="en-US" sz="3650" dirty="0"/>
          </a:p>
        </p:txBody>
      </p:sp>
      <p:sp>
        <p:nvSpPr>
          <p:cNvPr id="5" name="Text 3"/>
          <p:cNvSpPr/>
          <p:nvPr/>
        </p:nvSpPr>
        <p:spPr>
          <a:xfrm>
            <a:off x="661475" y="1646039"/>
            <a:ext cx="10868745" cy="398859"/>
          </a:xfrm>
          <a:prstGeom prst="rect">
            <a:avLst/>
          </a:prstGeom>
          <a:noFill/>
          <a:ln/>
        </p:spPr>
        <p:txBody>
          <a:bodyPr wrap="square" lIns="0" tIns="0" rIns="0" bIns="0" rtlCol="0" anchor="t">
            <a:normAutofit/>
          </a:bodyPr>
          <a:lstStyle/>
          <a:p>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Sort tickets by starting station in ascending order. For each ticket, check existing seats — if a seat's </a:t>
            </a:r>
            <a:pPr algn="l" indent="0" marL="0">
              <a:lnSpc>
                <a:spcPct val="101000"/>
              </a:lnSpc>
              <a:buNone/>
            </a:pPr>
            <a:r>
              <a:rPr lang="en-US" sz="1250" dirty="0">
                <a:solidFill>
                  <a:srgbClr val="67534F"/>
                </a:solidFill>
                <a:highlight>
                  <a:srgbClr val="F2F2E7"/>
                </a:highlight>
                <a:latin typeface="Consolas" pitchFamily="34" charset="0"/>
                <a:ea typeface="Consolas" pitchFamily="34" charset="-122"/>
                <a:cs typeface="Consolas" pitchFamily="34" charset="-120"/>
              </a:rPr>
              <a:t>free_time ≤ start</a:t>
            </a:r>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 reuse it; otherwise allocate a new seat.</a:t>
            </a:r>
            <a:endParaRPr lang="en-US" sz="1250" dirty="0"/>
          </a:p>
        </p:txBody>
      </p:sp>
      <p:pic>
        <p:nvPicPr>
          <p:cNvPr id="6" name="Image 0" descr="preencoded.png">    </p:cNvPr>
          <p:cNvPicPr>
            <a:picLocks noChangeAspect="1"/>
          </p:cNvPicPr>
          <p:nvPr/>
        </p:nvPicPr>
        <p:blipFill>
          <a:blip r:embed="rId1"/>
          <a:stretch>
            <a:fillRect/>
          </a:stretch>
        </p:blipFill>
        <p:spPr>
          <a:xfrm>
            <a:off x="661475" y="2358827"/>
            <a:ext cx="5236238" cy="1916509"/>
          </a:xfrm>
          <a:prstGeom prst="rect">
            <a:avLst/>
          </a:prstGeom>
        </p:spPr>
      </p:pic>
      <p:pic>
        <p:nvPicPr>
          <p:cNvPr id="7" name="Image 1" descr="preencoded.png">    </p:cNvPr>
          <p:cNvPicPr>
            <a:picLocks noChangeAspect="1"/>
          </p:cNvPicPr>
          <p:nvPr/>
        </p:nvPicPr>
        <p:blipFill>
          <a:blip r:embed="rId2"/>
          <a:stretch>
            <a:fillRect/>
          </a:stretch>
        </p:blipFill>
        <p:spPr>
          <a:xfrm>
            <a:off x="6300332" y="2358827"/>
            <a:ext cx="5236238" cy="1840508"/>
          </a:xfrm>
          <a:prstGeom prst="rect">
            <a:avLst/>
          </a:prstGeom>
        </p:spPr>
      </p:pic>
      <p:sp>
        <p:nvSpPr>
          <p:cNvPr id="8" name="Shape 4"/>
          <p:cNvSpPr/>
          <p:nvPr/>
        </p:nvSpPr>
        <p:spPr>
          <a:xfrm>
            <a:off x="661475" y="5188347"/>
            <a:ext cx="3529916" cy="1142603"/>
          </a:xfrm>
          <a:prstGeom prst="roundRect">
            <a:avLst>
              <a:gd name="adj" fmla="val 5971"/>
            </a:avLst>
          </a:prstGeom>
          <a:solidFill>
            <a:srgbClr val="FFFFF4"/>
          </a:solidFill>
          <a:ln w="19050">
            <a:solidFill>
              <a:srgbClr val="FFE0CC"/>
            </a:solidFill>
            <a:prstDash val="solid"/>
          </a:ln>
        </p:spPr>
      </p:sp>
      <p:sp>
        <p:nvSpPr>
          <p:cNvPr id="9" name="Text 5"/>
          <p:cNvSpPr/>
          <p:nvPr/>
        </p:nvSpPr>
        <p:spPr>
          <a:xfrm>
            <a:off x="842941" y="5369818"/>
            <a:ext cx="3166983" cy="303411"/>
          </a:xfrm>
          <a:prstGeom prst="rect">
            <a:avLst/>
          </a:prstGeom>
          <a:noFill/>
          <a:ln/>
        </p:spPr>
        <p:txBody>
          <a:bodyPr wrap="none" lIns="0" tIns="0" rIns="0" bIns="0" rtlCol="0" anchor="t"/>
          <a:lstStyle/>
          <a:p>
            <a:pPr algn="l" indent="0" marL="0">
              <a:lnSpc>
                <a:spcPct val="108000"/>
              </a:lnSpc>
              <a:buNone/>
            </a:pPr>
            <a:r>
              <a:rPr lang="en-US" sz="1800" spc="-18" kern="0" dirty="0">
                <a:solidFill>
                  <a:srgbClr val="67534F"/>
                </a:solidFill>
                <a:latin typeface="Marcellus" pitchFamily="34" charset="0"/>
                <a:ea typeface="Marcellus" pitchFamily="34" charset="-122"/>
                <a:cs typeface="Marcellus" pitchFamily="34" charset="-120"/>
              </a:rPr>
              <a:t>21 Tickets Packed</a:t>
            </a:r>
            <a:endParaRPr lang="en-US" sz="1800" dirty="0"/>
          </a:p>
        </p:txBody>
      </p:sp>
      <p:sp>
        <p:nvSpPr>
          <p:cNvPr id="10" name="Text 6"/>
          <p:cNvSpPr/>
          <p:nvPr/>
        </p:nvSpPr>
        <p:spPr>
          <a:xfrm>
            <a:off x="842941" y="5756970"/>
            <a:ext cx="3166983" cy="392509"/>
          </a:xfrm>
          <a:prstGeom prst="rect">
            <a:avLst/>
          </a:prstGeom>
          <a:noFill/>
          <a:ln/>
        </p:spPr>
        <p:txBody>
          <a:bodyPr wrap="square" lIns="0" tIns="0" rIns="0" bIns="0" rtlCol="0" anchor="t">
            <a:normAutofit/>
          </a:bodyPr>
          <a:lstStyle/>
          <a:p>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All assigned to exactly </a:t>
            </a:r>
            <a:pPr algn="l" indent="0" marL="0">
              <a:lnSpc>
                <a:spcPct val="101000"/>
              </a:lnSpc>
              <a:buNone/>
            </a:pPr>
            <a:r>
              <a:rPr lang="en-US" sz="1250" b="1" dirty="0">
                <a:solidFill>
                  <a:srgbClr val="67534F"/>
                </a:solidFill>
                <a:latin typeface="Montserrat Bold" pitchFamily="34" charset="0"/>
                <a:ea typeface="Montserrat Bold" pitchFamily="34" charset="-122"/>
                <a:cs typeface="Montserrat Bold" pitchFamily="34" charset="-120"/>
              </a:rPr>
              <a:t>8 optimal seats</a:t>
            </a:r>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 (Seat 0–7) with zero timing conflicts.</a:t>
            </a:r>
            <a:endParaRPr lang="en-US" sz="1250" dirty="0"/>
          </a:p>
        </p:txBody>
      </p:sp>
      <p:sp>
        <p:nvSpPr>
          <p:cNvPr id="11" name="Shape 7"/>
          <p:cNvSpPr/>
          <p:nvPr/>
        </p:nvSpPr>
        <p:spPr>
          <a:xfrm>
            <a:off x="4330889" y="5188347"/>
            <a:ext cx="3529916" cy="1142603"/>
          </a:xfrm>
          <a:prstGeom prst="roundRect">
            <a:avLst>
              <a:gd name="adj" fmla="val 5971"/>
            </a:avLst>
          </a:prstGeom>
          <a:solidFill>
            <a:srgbClr val="FFFFF4"/>
          </a:solidFill>
          <a:ln w="19050">
            <a:solidFill>
              <a:srgbClr val="FFE0CC"/>
            </a:solidFill>
            <a:prstDash val="solid"/>
          </a:ln>
        </p:spPr>
      </p:sp>
      <p:sp>
        <p:nvSpPr>
          <p:cNvPr id="12" name="Text 8"/>
          <p:cNvSpPr/>
          <p:nvPr/>
        </p:nvSpPr>
        <p:spPr>
          <a:xfrm>
            <a:off x="4512356" y="5369818"/>
            <a:ext cx="3166983" cy="303411"/>
          </a:xfrm>
          <a:prstGeom prst="rect">
            <a:avLst/>
          </a:prstGeom>
          <a:noFill/>
          <a:ln/>
        </p:spPr>
        <p:txBody>
          <a:bodyPr wrap="none" lIns="0" tIns="0" rIns="0" bIns="0" rtlCol="0" anchor="t"/>
          <a:lstStyle/>
          <a:p>
            <a:pPr algn="l" indent="0" marL="0">
              <a:lnSpc>
                <a:spcPct val="108000"/>
              </a:lnSpc>
              <a:buNone/>
            </a:pPr>
            <a:r>
              <a:rPr lang="en-US" sz="1800" spc="-18" kern="0" dirty="0">
                <a:solidFill>
                  <a:srgbClr val="67534F"/>
                </a:solidFill>
                <a:latin typeface="Marcellus" pitchFamily="34" charset="0"/>
                <a:ea typeface="Marcellus" pitchFamily="34" charset="-122"/>
                <a:cs typeface="Marcellus" pitchFamily="34" charset="-120"/>
              </a:rPr>
              <a:t>Visual Seat Map</a:t>
            </a:r>
            <a:endParaRPr lang="en-US" sz="1800" dirty="0"/>
          </a:p>
        </p:txBody>
      </p:sp>
      <p:sp>
        <p:nvSpPr>
          <p:cNvPr id="13" name="Text 9"/>
          <p:cNvSpPr/>
          <p:nvPr/>
        </p:nvSpPr>
        <p:spPr>
          <a:xfrm>
            <a:off x="4512356" y="5756970"/>
            <a:ext cx="3166983" cy="392509"/>
          </a:xfrm>
          <a:prstGeom prst="rect">
            <a:avLst/>
          </a:prstGeom>
          <a:noFill/>
          <a:ln/>
        </p:spPr>
        <p:txBody>
          <a:bodyPr wrap="square" lIns="0" tIns="0" rIns="0" bIns="0" rtlCol="0" anchor="t">
            <a:normAutofit/>
          </a:bodyPr>
          <a:lstStyle/>
          <a:p>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Each ticket's schedule is mapped to a specific seat, enabling full traceability.</a:t>
            </a:r>
            <a:endParaRPr lang="en-US" sz="1250" dirty="0"/>
          </a:p>
        </p:txBody>
      </p:sp>
      <p:sp>
        <p:nvSpPr>
          <p:cNvPr id="14" name="Shape 10"/>
          <p:cNvSpPr/>
          <p:nvPr/>
        </p:nvSpPr>
        <p:spPr>
          <a:xfrm>
            <a:off x="8000304" y="5188347"/>
            <a:ext cx="3529916" cy="1142603"/>
          </a:xfrm>
          <a:prstGeom prst="roundRect">
            <a:avLst>
              <a:gd name="adj" fmla="val 5971"/>
            </a:avLst>
          </a:prstGeom>
          <a:solidFill>
            <a:srgbClr val="FFFFF4"/>
          </a:solidFill>
          <a:ln w="19050">
            <a:solidFill>
              <a:srgbClr val="FFE0CC"/>
            </a:solidFill>
            <a:prstDash val="solid"/>
          </a:ln>
        </p:spPr>
      </p:sp>
      <p:sp>
        <p:nvSpPr>
          <p:cNvPr id="15" name="Text 11"/>
          <p:cNvSpPr/>
          <p:nvPr/>
        </p:nvSpPr>
        <p:spPr>
          <a:xfrm>
            <a:off x="8181770" y="5369818"/>
            <a:ext cx="3166983" cy="303411"/>
          </a:xfrm>
          <a:prstGeom prst="rect">
            <a:avLst/>
          </a:prstGeom>
          <a:noFill/>
          <a:ln/>
        </p:spPr>
        <p:txBody>
          <a:bodyPr wrap="none" lIns="0" tIns="0" rIns="0" bIns="0" rtlCol="0" anchor="t"/>
          <a:lstStyle/>
          <a:p>
            <a:pPr algn="l" indent="0" marL="0">
              <a:lnSpc>
                <a:spcPct val="108000"/>
              </a:lnSpc>
              <a:buNone/>
            </a:pPr>
            <a:r>
              <a:rPr lang="en-US" sz="1800" spc="-18" kern="0" dirty="0">
                <a:solidFill>
                  <a:srgbClr val="67534F"/>
                </a:solidFill>
                <a:latin typeface="Marcellus" pitchFamily="34" charset="0"/>
                <a:ea typeface="Marcellus" pitchFamily="34" charset="-122"/>
                <a:cs typeface="Marcellus" pitchFamily="34" charset="-120"/>
              </a:rPr>
              <a:t>O(n log n)</a:t>
            </a:r>
            <a:endParaRPr lang="en-US" sz="1800" dirty="0"/>
          </a:p>
        </p:txBody>
      </p:sp>
      <p:sp>
        <p:nvSpPr>
          <p:cNvPr id="16" name="Text 12"/>
          <p:cNvSpPr/>
          <p:nvPr/>
        </p:nvSpPr>
        <p:spPr>
          <a:xfrm>
            <a:off x="8181770" y="5756970"/>
            <a:ext cx="3166983" cy="392509"/>
          </a:xfrm>
          <a:prstGeom prst="rect">
            <a:avLst/>
          </a:prstGeom>
          <a:noFill/>
          <a:ln/>
        </p:spPr>
        <p:txBody>
          <a:bodyPr wrap="square" lIns="0" tIns="0" rIns="0" bIns="0" rtlCol="0" anchor="t">
            <a:normAutofit/>
          </a:bodyPr>
          <a:lstStyle/>
          <a:p>
            <a:pPr algn="l" indent="0" marL="0">
              <a:lnSpc>
                <a:spcPct val="101000"/>
              </a:lnSpc>
              <a:buNone/>
            </a:pPr>
            <a:r>
              <a:rPr lang="en-US" sz="1250" dirty="0">
                <a:solidFill>
                  <a:srgbClr val="67534F"/>
                </a:solidFill>
                <a:latin typeface="Montserrat" pitchFamily="34" charset="0"/>
                <a:ea typeface="Montserrat" pitchFamily="34" charset="-122"/>
                <a:cs typeface="Montserrat" pitchFamily="34" charset="-120"/>
              </a:rPr>
              <a:t>Sorting dominates; seat reuse is linear — highly efficient at scale.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70930"/>
            <a:ext cx="10868745" cy="607120"/>
          </a:xfrm>
          <a:prstGeom prst="rect">
            <a:avLst/>
          </a:prstGeom>
          <a:noFill/>
          <a:ln/>
        </p:spPr>
        <p:txBody>
          <a:bodyPr wrap="none" lIns="0" tIns="0" rIns="0" bIns="0" rtlCol="0" anchor="t"/>
          <a:lstStyle/>
          <a:p>
            <a:pPr algn="l" indent="0" marL="0">
              <a:lnSpc>
                <a:spcPct val="108000"/>
              </a:lnSpc>
              <a:buNone/>
            </a:pPr>
            <a:r>
              <a:rPr lang="en-US" sz="3650" spc="-37" kern="0" dirty="0">
                <a:solidFill>
                  <a:srgbClr val="532418"/>
                </a:solidFill>
                <a:latin typeface="Marcellus" pitchFamily="34" charset="0"/>
                <a:ea typeface="Marcellus" pitchFamily="34" charset="-122"/>
                <a:cs typeface="Marcellus" pitchFamily="34" charset="-120"/>
              </a:rPr>
              <a:t>Comparison &amp; Conclusion</a:t>
            </a:r>
            <a:endParaRPr lang="en-US" sz="3650" dirty="0"/>
          </a:p>
        </p:txBody>
      </p:sp>
      <p:pic>
        <p:nvPicPr>
          <p:cNvPr id="3" name="Image 0" descr="preencoded.png">    </p:cNvPr>
          <p:cNvPicPr>
            <a:picLocks noChangeAspect="1"/>
          </p:cNvPicPr>
          <p:nvPr/>
        </p:nvPicPr>
        <p:blipFill>
          <a:blip r:embed="rId1"/>
          <a:stretch>
            <a:fillRect/>
          </a:stretch>
        </p:blipFill>
        <p:spPr>
          <a:xfrm>
            <a:off x="1065980" y="2312591"/>
            <a:ext cx="4990380" cy="3049191"/>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63583" y="1744365"/>
          <a:ext cx="9143771" cy="914400"/>
        </p:xfrm>
        <a:graphic>
          <a:graphicData uri="http://schemas.openxmlformats.org/drawingml/2006/table">
            <a:tbl>
              <a:tblPr/>
              <a:tblGrid>
                <a:gridCol w="1308436"/>
                <a:gridCol w="841138"/>
                <a:gridCol w="1261707"/>
                <a:gridCol w="1261707"/>
              </a:tblGrid>
              <a:tr h="575851">
                <a:tc>
                  <a:txBody>
                    <a:bodyPr/>
                    <a:lstStyle/>
                    <a:p>
                      <a:pPr algn="l" indent="0" marL="0">
                        <a:buNone/>
                      </a:pPr>
                      <a:r>
                        <a:rPr lang="en-US" sz="1250" b="1" dirty="0">
                          <a:solidFill>
                            <a:srgbClr val="67534F"/>
                          </a:solidFill>
                          <a:latin typeface="Montserrat" pitchFamily="34" charset="0"/>
                          <a:ea typeface="Montserrat" pitchFamily="34" charset="-122"/>
                          <a:cs typeface="Montserrat" pitchFamily="34" charset="-120"/>
                        </a:rPr>
                        <a:t>Approach</a:t>
                      </a:r>
                      <a:endParaRPr lang="en-US" sz="1250" dirty="0">
                        <a:latin typeface="Montserrat" charset="0"/>
                        <a:ea typeface="Montserrat" charset="0"/>
                        <a:cs typeface="Montserrat" charset="0"/>
                      </a:endParaRPr>
                    </a:p>
                  </a:txBody>
                  <a:tcPr marL="162438" marR="162438" marT="6350" marB="6350" anchor="ctr">
                    <a:lnL w="12700" cap="flat" cmpd="sng" algn="ctr">
                      <a:solidFill>
                        <a:srgbClr val="FFE0CC"/>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b="1" dirty="0">
                          <a:solidFill>
                            <a:srgbClr val="67534F"/>
                          </a:solidFill>
                          <a:latin typeface="Montserrat" pitchFamily="34" charset="0"/>
                          <a:ea typeface="Montserrat" pitchFamily="34" charset="-122"/>
                          <a:cs typeface="Montserrat" pitchFamily="34" charset="-120"/>
                        </a:rPr>
                        <a:t>Complexity</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b="1" dirty="0">
                          <a:solidFill>
                            <a:srgbClr val="67534F"/>
                          </a:solidFill>
                          <a:latin typeface="Montserrat" pitchFamily="34" charset="0"/>
                          <a:ea typeface="Montserrat" pitchFamily="34" charset="-122"/>
                          <a:cs typeface="Montserrat" pitchFamily="34" charset="-120"/>
                        </a:rPr>
                        <a:t>Strength</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b="1" dirty="0">
                          <a:solidFill>
                            <a:srgbClr val="67534F"/>
                          </a:solidFill>
                          <a:latin typeface="Montserrat" pitchFamily="34" charset="0"/>
                          <a:ea typeface="Montserrat" pitchFamily="34" charset="-122"/>
                          <a:cs typeface="Montserrat" pitchFamily="34" charset="-120"/>
                        </a:rPr>
                        <a:t>Weakness</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FE0CC"/>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r>
              <a:tr h="579026">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Brute-Force</a:t>
                      </a:r>
                      <a:endParaRPr lang="en-US" sz="1250" dirty="0">
                        <a:latin typeface="Montserrat" charset="0"/>
                        <a:ea typeface="Montserrat" charset="0"/>
                        <a:cs typeface="Montserrat" charset="0"/>
                      </a:endParaRPr>
                    </a:p>
                  </a:txBody>
                  <a:tcPr marL="162438" marR="162438" marT="6350" marB="6350" anchor="ctr">
                    <a:lnL w="12700" cap="flat" cmpd="sng" algn="ctr">
                      <a:solidFill>
                        <a:srgbClr val="FFE0CC"/>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O(n·m)</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Simple to implement</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Too slow at scale</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FE0CC"/>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r>
              <a:tr h="775276">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Difference Array</a:t>
                      </a:r>
                      <a:endParaRPr lang="en-US" sz="1250" dirty="0">
                        <a:latin typeface="Montserrat" charset="0"/>
                        <a:ea typeface="Montserrat" charset="0"/>
                        <a:cs typeface="Montserrat" charset="0"/>
                      </a:endParaRPr>
                    </a:p>
                  </a:txBody>
                  <a:tcPr marL="162438" marR="162438" marT="6350" marB="6350" anchor="ctr">
                    <a:lnL w="12700" cap="flat" cmpd="sng" algn="ctr">
                      <a:solidFill>
                        <a:srgbClr val="FFE0CC"/>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O(n+m)</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Fastest peak-load detection</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No per-ticket seat map</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FE0CC"/>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r>
              <a:tr h="772101">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Sweep-Line</a:t>
                      </a:r>
                      <a:endParaRPr lang="en-US" sz="1250" dirty="0">
                        <a:latin typeface="Montserrat" charset="0"/>
                        <a:ea typeface="Montserrat" charset="0"/>
                        <a:cs typeface="Montserrat" charset="0"/>
                      </a:endParaRPr>
                    </a:p>
                  </a:txBody>
                  <a:tcPr marL="162438" marR="162438" marT="6350" marB="6350" anchor="ctr">
                    <a:lnL w="12700" cap="flat" cmpd="sng" algn="ctr">
                      <a:solidFill>
                        <a:srgbClr val="FFE0CC"/>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O(n log n)</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Full seat assignment</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DFCF0"/>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c>
                  <a:txBody>
                    <a:bodyPr/>
                    <a:lstStyle/>
                    <a:p>
                      <a:pPr algn="l" indent="0" marL="0">
                        <a:buNone/>
                      </a:pPr>
                      <a:r>
                        <a:rPr lang="en-US" sz="1250" dirty="0">
                          <a:solidFill>
                            <a:srgbClr val="67534F"/>
                          </a:solidFill>
                          <a:latin typeface="Montserrat" pitchFamily="34" charset="0"/>
                          <a:ea typeface="Montserrat" pitchFamily="34" charset="-122"/>
                          <a:cs typeface="Montserrat" pitchFamily="34" charset="-120"/>
                        </a:rPr>
                        <a:t>Requires sorting step</a:t>
                      </a:r>
                      <a:endParaRPr lang="en-US" sz="1250" dirty="0">
                        <a:latin typeface="Montserrat" charset="0"/>
                        <a:ea typeface="Montserrat" charset="0"/>
                        <a:cs typeface="Montserrat" charset="0"/>
                      </a:endParaRPr>
                    </a:p>
                  </a:txBody>
                  <a:tcPr marL="162438" marR="162438" marT="6350" marB="6350" anchor="ctr">
                    <a:lnL w="12700" cap="flat" cmpd="sng" algn="ctr">
                      <a:solidFill>
                        <a:srgbClr val="FDFCF0"/>
                      </a:solidFill>
                      <a:prstDash val="solid"/>
                      <a:round/>
                      <a:headEnd type="none" w="med" len="med"/>
                      <a:tailEnd type="none" w="med" len="med"/>
                    </a:lnL>
                    <a:lnR w="12700" cap="flat" cmpd="sng" algn="ctr">
                      <a:solidFill>
                        <a:srgbClr val="FFE0CC"/>
                      </a:solidFill>
                      <a:prstDash val="solid"/>
                      <a:round/>
                      <a:headEnd type="none" w="med" len="med"/>
                      <a:tailEnd type="none" w="med" len="med"/>
                    </a:lnR>
                    <a:lnT w="12700" cap="flat" cmpd="sng" algn="ctr">
                      <a:solidFill>
                        <a:srgbClr val="FFE0CC"/>
                      </a:solidFill>
                      <a:prstDash val="solid"/>
                      <a:round/>
                      <a:headEnd type="none" w="med" len="med"/>
                      <a:tailEnd type="none" w="med" len="med"/>
                    </a:lnT>
                    <a:lnB w="12700" cap="flat" cmpd="sng" algn="ctr">
                      <a:solidFill>
                        <a:srgbClr val="FFE0CC"/>
                      </a:solidFill>
                      <a:prstDash val="solid"/>
                      <a:round/>
                      <a:headEnd type="none" w="med" len="med"/>
                      <a:tailEnd type="none" w="med" len="med"/>
                    </a:lnB>
                  </a:tcPr>
                </a:tc>
              </a:tr>
            </a:tbl>
          </a:graphicData>
        </a:graphic>
      </p:graphicFrame>
      <p:sp>
        <p:nvSpPr>
          <p:cNvPr id="5" name="Shape 1"/>
          <p:cNvSpPr/>
          <p:nvPr/>
        </p:nvSpPr>
        <p:spPr>
          <a:xfrm>
            <a:off x="6863583" y="4616351"/>
            <a:ext cx="4672987" cy="1313656"/>
          </a:xfrm>
          <a:prstGeom prst="roundRect">
            <a:avLst>
              <a:gd name="adj" fmla="val 5193"/>
            </a:avLst>
          </a:prstGeom>
          <a:solidFill>
            <a:srgbClr val="FFE0CC"/>
          </a:solidFill>
          <a:ln/>
        </p:spPr>
      </p:sp>
      <p:pic>
        <p:nvPicPr>
          <p:cNvPr id="6" name="Image 1" descr="preencoded.png">    </p:cNvPr>
          <p:cNvPicPr>
            <a:picLocks noChangeAspect="1"/>
          </p:cNvPicPr>
          <p:nvPr/>
        </p:nvPicPr>
        <p:blipFill>
          <a:blip r:embed="rId2"/>
          <a:stretch>
            <a:fillRect/>
          </a:stretch>
        </p:blipFill>
        <p:spPr>
          <a:xfrm>
            <a:off x="7026000" y="4806652"/>
            <a:ext cx="202996" cy="162421"/>
          </a:xfrm>
          <a:prstGeom prst="rect">
            <a:avLst/>
          </a:prstGeom>
        </p:spPr>
      </p:pic>
      <p:sp>
        <p:nvSpPr>
          <p:cNvPr id="7" name="Text 2"/>
          <p:cNvSpPr/>
          <p:nvPr/>
        </p:nvSpPr>
        <p:spPr>
          <a:xfrm>
            <a:off x="7391414" y="4782542"/>
            <a:ext cx="3982739" cy="981273"/>
          </a:xfrm>
          <a:prstGeom prst="rect">
            <a:avLst/>
          </a:prstGeom>
          <a:noFill/>
          <a:ln/>
        </p:spPr>
        <p:txBody>
          <a:bodyPr wrap="square" lIns="0" tIns="0" rIns="0" bIns="0" rtlCol="0" anchor="t">
            <a:normAutofit/>
          </a:bodyPr>
          <a:lstStyle/>
          <a:p>
            <a:pPr algn="l" indent="0" marL="0">
              <a:lnSpc>
                <a:spcPct val="101000"/>
              </a:lnSpc>
              <a:buNone/>
            </a:pPr>
            <a:r>
              <a:rPr lang="en-US" sz="1250" b="1" dirty="0">
                <a:solidFill>
                  <a:srgbClr val="000000"/>
                </a:solidFill>
                <a:latin typeface="Montserrat Bold" pitchFamily="34" charset="0"/>
                <a:ea typeface="Montserrat Bold" pitchFamily="34" charset="-122"/>
                <a:cs typeface="Montserrat Bold" pitchFamily="34" charset="-120"/>
              </a:rPr>
              <a:t>Best Practice:</a:t>
            </a:r>
            <a:pPr algn="l" indent="0" marL="0">
              <a:lnSpc>
                <a:spcPct val="101000"/>
              </a:lnSpc>
              <a:buNone/>
            </a:pPr>
            <a:r>
              <a:rPr lang="en-US" sz="1250" dirty="0">
                <a:solidFill>
                  <a:srgbClr val="000000"/>
                </a:solidFill>
                <a:latin typeface="Montserrat" pitchFamily="34" charset="0"/>
                <a:ea typeface="Montserrat" pitchFamily="34" charset="-122"/>
                <a:cs typeface="Montserrat" pitchFamily="34" charset="-120"/>
              </a:rPr>
              <a:t> Combine Approach 2 (load analysis) with Approach 3 (seat packing) for a complete, optimal EDA solution — fast peak detection plus precise per-passenger assignment.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2026-10-01T13:45:41Z</dcterms:created>
  <dcterms:modified xsi:type="dcterms:W3CDTF">2026-10-01T13:45:41Z</dcterms:modified>
</cp:coreProperties>
</file>